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10a7d27-9aa3-88bc-1d2f-4e8616591ed0}">
          <p14:sldIdLst>
            <p14:sldId id="256"/>
          </p14:sldIdLst>
        </p14:section>
        <p14:section name="1. A proposta" id="{956c5e20-660e-cd9c-58de-7a1b6499c3e1}">
          <p14:sldIdLst>
            <p14:sldId id="257"/>
          </p14:sldIdLst>
        </p14:section>
        <p14:section name="2. O desafio técnico" id="{ff2ead68-22d2-ba5d-9cbc-0f5114f01a21}">
          <p14:sldIdLst>
            <p14:sldId id="258"/>
          </p14:sldIdLst>
        </p14:section>
        <p14:section name="3. A solução desenvolvida" id="{a40638ea-b768-d382-9b19-4ec5788d7013}">
          <p14:sldIdLst>
            <p14:sldId id="259"/>
            <p14:sldId id="260"/>
          </p14:sldIdLst>
        </p14:section>
        <p14:section name="4. Árvore AVL" id="{db35e868-f37a-6543-627f-998a2d281c7c}">
          <p14:sldIdLst>
            <p14:sldId id="261"/>
            <p14:sldId id="262"/>
          </p14:sldIdLst>
        </p14:section>
        <p14:section name="5. Árvore Rubro-Negra" id="{77d8a8c5-acc2-1250-c307-46b4bdf4144d}">
          <p14:sldIdLst>
            <p14:sldId id="263"/>
            <p14:sldId id="264"/>
          </p14:sldIdLst>
        </p14:section>
        <p14:section name="6. Demonstração" id="{21875304-7e9c-a09d-15c8-865bbad19bea}">
          <p14:sldIdLst>
            <p14:sldId id="265"/>
            <p14:sldId id="266"/>
          </p14:sldIdLst>
        </p14:section>
        <p14:section name="7. Testes realizados" id="{0ebe7122-7324-7b5a-7daf-1eb8b8dd8b6b}">
          <p14:sldIdLst>
            <p14:sldId id="267"/>
          </p14:sldIdLst>
        </p14:section>
        <p14:section name="8. Análise comparativa" id="{674a8e09-e7f5-4aef-8e37-6761cc3fc3b8}">
          <p14:sldIdLst>
            <p14:sldId id="268"/>
            <p14:sldId id="269"/>
            <p14:sldId id="270"/>
            <p14:sldId id="271"/>
          </p14:sldIdLst>
        </p14:section>
        <p14:section name="9. Recomendação técnica" id="{f5ce3624-2dbb-e10a-a833-888301d46e64}">
          <p14:sldIdLst>
            <p14:sldId id="272"/>
          </p14:sldIdLst>
        </p14:section>
        <p14:section name="10. Referências e repositório" id="{7874b2a6-1991-b4a7-a4c8-bce3c8e343b4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4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B1F24"/>
                </a:solidFill>
                <a:latin typeface="+mj-lt"/>
              </a:rPr>
              <a:t>Altura após inserir n IDs em ordem crescente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AVL</c:v>
                </c:pt>
              </c:strCache>
            </c:strRef>
          </c:tx>
          <c:spPr>
            <a:solidFill>
              <a:srgbClr val="0F7C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10</c:v>
                  </c:pt>
                  <c:pt idx="1">
                    <c:v>100</c:v>
                  </c:pt>
                  <c:pt idx="2">
                    <c:v>1 mil</c:v>
                  </c:pt>
                  <c:pt idx="3">
                    <c:v>10 mil</c:v>
                  </c:pt>
                  <c:pt idx="4">
                    <c:v>100 mil</c:v>
                  </c:pt>
                  <c:pt idx="5">
                    <c:v>1 milhão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7</c:v>
                </c:pt>
                <c:pt idx="2">
                  <c:v>10</c:v>
                </c:pt>
                <c:pt idx="3">
                  <c:v>14</c:v>
                </c:pt>
                <c:pt idx="4">
                  <c:v>17</c:v>
                </c:pt>
                <c:pt idx="5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Rubro-Negra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10</c:v>
                  </c:pt>
                  <c:pt idx="1">
                    <c:v>100</c:v>
                  </c:pt>
                  <c:pt idx="2">
                    <c:v>1 mil</c:v>
                  </c:pt>
                  <c:pt idx="3">
                    <c:v>10 mil</c:v>
                  </c:pt>
                  <c:pt idx="4">
                    <c:v>100 mil</c:v>
                  </c:pt>
                  <c:pt idx="5">
                    <c:v>1 milhão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11</c:v>
                </c:pt>
                <c:pt idx="2">
                  <c:v>17</c:v>
                </c:pt>
                <c:pt idx="3">
                  <c:v>24</c:v>
                </c:pt>
                <c:pt idx="4">
                  <c:v>31</c:v>
                </c:pt>
                <c:pt idx="5">
                  <c:v>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E6A77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E6A77"/>
                    </a:solidFill>
                    <a:latin typeface="+mn-lt"/>
                  </a:rPr>
                  <a:t>quantidade de IDs (n)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A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1F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4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B1F24"/>
                </a:solidFill>
                <a:latin typeface="+mj-lt"/>
              </a:rPr>
              <a:t>Rotações com 100 mil IDs (rotação dupla = 2)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AVL</c:v>
                </c:pt>
              </c:strCache>
            </c:strRef>
          </c:tx>
          <c:spPr>
            <a:solidFill>
              <a:srgbClr val="0F7C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Inserção sequencial</c:v>
                  </c:pt>
                  <c:pt idx="1">
                    <c:v>Inserção aleatória</c:v>
                  </c:pt>
                  <c:pt idx="2">
                    <c:v>Remoção de 50% (aleatória)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99983</c:v>
                </c:pt>
                <c:pt idx="1">
                  <c:v>69961</c:v>
                </c:pt>
                <c:pt idx="2">
                  <c:v>18655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Rubro-Negra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Inserção sequencial</c:v>
                  </c:pt>
                  <c:pt idx="1">
                    <c:v>Inserção aleatória</c:v>
                  </c:pt>
                  <c:pt idx="2">
                    <c:v>Remoção de 50% (aleatória)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99969</c:v>
                </c:pt>
                <c:pt idx="1">
                  <c:v>58506</c:v>
                </c:pt>
                <c:pt idx="2">
                  <c:v>18423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A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0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00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1F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4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B1F24"/>
                </a:solidFill>
                <a:latin typeface="+mj-lt"/>
              </a:rPr>
              <a:t>Comparações por busca (100 mil IDs sequenciais)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AVL</c:v>
                </c:pt>
              </c:strCache>
            </c:strRef>
          </c:tx>
          <c:spPr>
            <a:solidFill>
              <a:srgbClr val="0F7C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ID existente</c:v>
                  </c:pt>
                  <c:pt idx="1">
                    <c:v>10% mais recentes</c:v>
                  </c:pt>
                  <c:pt idx="2">
                    <c:v>ID não emitido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15.69</c:v>
                </c:pt>
                <c:pt idx="1">
                  <c:v>15.34</c:v>
                </c:pt>
                <c:pt idx="2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Rubro-Negra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ID existente</c:v>
                  </c:pt>
                  <c:pt idx="1">
                    <c:v>10% mais recentes</c:v>
                  </c:pt>
                  <c:pt idx="2">
                    <c:v>ID não emitido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16.1</c:v>
                </c:pt>
                <c:pt idx="1">
                  <c:v>19.84</c:v>
                </c:pt>
                <c:pt idx="2">
                  <c:v>31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A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1F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Apresento a proposta como Tech Lead: um índice de encomendas para a Black Friday. Implementei duas árvores balanceadas, testei as duas com os mesmos dados e, ao final, recomendo uma delas com base nas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central do contexto: os IDs chegam em ordem crescente. Isso é natural para um gerador de IDs e, como mostro a seguir, é o pior caso para uma árvore de busca sem balanceamento.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balanceamento, a altura cresce linearmente com IDs sequenciais: a busca de um ID pode exigir 10 mil comparações. As duas árvores balanceadas mantêm a altura logarítmica. Repare que a Rubro-Negra já aparece mais alta que a AVL: esse dado volta na análise.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é Java puro, sem dependências. A interface ArvoreBalanceada é o que garante uma comparação justa: tudo que roda numa árvore roda igual na outra. O usuário escolhe a estrutura ao iniciar o programa.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Essas decisões estão documentadas no README e no código. A mais importante para o negócio: ID repetido é rejeitado, porque cada encomenda tem um ID único. A contagem de rotações usa a mesma convenção nas duas árvores para que os números sejam comparáveis.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AVL é a estratégia rígida: a diferença de altura entre as subárvores nunca passa de 1. Isso deixa a árvore muito perto da altura mínima, ao custo de atualizar alturas e, às vezes, rotacionar em vários níveis na remoção.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caso mais interessante da AVL. Ao inserir 25, o nó 20 fica desbalanceado para a direita, mas o filho direito pende para a esquerda. Uma única rotação não resolve; o programa faz uma rotação à direita em 40 e depois à esquerda em 20. A saída real do programa aparece na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Rubro-Negra é a estratégia frouxa: em vez de controlar alturas, controla cores. Isso tolera mais desequilíbrio, mas limita o trabalho de correção: no máximo duas rotações por inserção e três por remoção; o resto é recoloração.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Mesma sequência da AVL, agora na Rubro-Negra. No primeiro exemplo, só há troca de cores. No segundo, o conflito vermelho-vermelho forma uma linha, e uma rotação com recoloração resolve. Repare que a raiz nunca muda de cor.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Trechos reais do registro docs/evidencias/demo_avl.txt; as reticências indicam linhas omitidas e as anotações em laranja não fazem parte da saída. O modo detalhado mostra cada caso de balanceamento. O ID repetido e o inexistente são tratados sem alterar a árvore.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arquivo de entrada, agora com --rn (docs/evidencias/demo_rubro_negra.txt). A visualização indica a cor de cada nó, e no terminal os vermelhos aparecem em vermelho. A remoção do 10, uma folha preta, aciona três casos de correção em sequência.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testes cobrem todos os cenários pedidos no enunciado e mais dois: o limite teórico de altura e um teste de estresse com 30 mil operações aleatórias, conferidas contra o TreeSet do Java. O registro completo está em docs/evidencias/testes.txt.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 evidência: com IDs sequenciais, a AVL fica exatamente na altura mínima possível em todos os tamanhos, e a Rubro-Negra quase dobra. Com IDs aleatórios as duas empatam. Ou seja, a diferença aparece justamente no padrão de chegada da Black Friday.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vantagem clássica da Rubro-Negra é fazer menos rotações, e ela aparece com IDs aleatórios: 16% a menos. Com IDs sequenciais, porém, as duas fazem praticamente uma rotação por inserção, e a Rubro-Negra ainda faz cerca de cinco recolorações por inserção. Em tempo, a inserção da Rubro-Negra foi mais rápida em todas as execuções.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altura se traduz em comparações. Na busca média a diferença é pequena, mas nas encomendas mais recentes, que são as mais rastreadas, a AVL faz 23% menos comparações, e para IDs ainda não emitidos a Rubro-Negra percorre o ramo inteiro de 31 níveis. Nas cargas mistas, os tempos ficaram próximos e oscilaram entre execuções, então não os uso como argumento principal.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das diferenças: a AVL troca trabalho de escrita por buscas mais curtas; a Rubro-Negra troca altura por correções mais baratas. Por isso as bibliotecas de uso geral, que não conhecem a carga, costumam usar Rubro-Negra.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recomendação segue das evidências: no padrão real de chegada, a vantagem da Rubro-Negra em rotações desaparece, enquanto a AVL mantém a altura mínima e faz menos comparações nas encomendas mais consultadas. A recomendação mudaria se a carga fosse de chaves aleatórias com muita escrita.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repositório contém tudo o que foi apresentado: o código, o jar executável usado nos testes e no benchmark, o README e os registros de execução.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F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459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4612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FE0EA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36576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F2A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3"/>
                </a:solidFill>
              </a:rPr>
              <a:t>Amazon Engineering Challenge  ·  Árvores balanceadas  ·  Leonardo Rosendo Faustino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F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36576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9AAA"/>
                </a:solidFill>
              </a:rPr>
              <a:t>Amazon Engineering Challenge  ·  Árvores balanceadas  ·  Leonardo Rosendo Faustino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F9A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EU-USUARIO/arvores-balanceadas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731520" y="11430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8C28"/>
                </a:solidFill>
              </a:rPr>
              <a:t>AMAZON ENGINEERING CHALLENGE  ·  IMD0039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6459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Indexação de encomendas na Black Friday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2461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FE0EA"/>
                </a:solidFill>
              </a:rPr>
              <a:t>AVL x Rubro-Negra: implementação, testes e recomendação técnica</a:t>
            </a:r>
            <a:endParaRPr lang="en-US" sz="2000" dirty="0"/>
          </a:p>
        </p:txBody>
      </p:sp>
      <p:sp>
        <p:nvSpPr>
          <p:cNvPr id="5" name="Autor"/>
          <p:cNvSpPr txBox="1"/>
          <p:nvPr/>
        </p:nvSpPr>
        <p:spPr>
          <a:xfrm>
            <a:off x="731520" y="45262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Leonardo Rosendo Faustino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0EA"/>
                </a:solidFill>
              </a:rPr>
              <a:t>Matrícula 20250027331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0EA"/>
                </a:solidFill>
              </a:rPr>
              <a:t>Estruturas de Dados Básicas II  ·  UFRN/IMD  ·  Outubro de 2026</a:t>
            </a:r>
            <a:endParaRPr lang="en-US" sz="1500" dirty="0"/>
          </a:p>
        </p:txBody>
      </p:sp>
      <p:sp>
        <p:nvSpPr>
          <p:cNvPr id="6" name="Aresta 10-5"/>
          <p:cNvSpPr/>
          <p:nvPr/>
        </p:nvSpPr>
        <p:spPr>
          <a:xfrm flipH="1">
            <a:off x="8046720" y="2651760"/>
            <a:ext cx="422910" cy="91440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7" name="Aresta 10-15"/>
          <p:cNvSpPr/>
          <p:nvPr/>
        </p:nvSpPr>
        <p:spPr>
          <a:xfrm>
            <a:off x="8469630" y="2651760"/>
            <a:ext cx="422910" cy="91440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8" name="Aresta 20-10"/>
          <p:cNvSpPr/>
          <p:nvPr/>
        </p:nvSpPr>
        <p:spPr>
          <a:xfrm flipH="1">
            <a:off x="8469630" y="1737360"/>
            <a:ext cx="845820" cy="91440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9" name="Aresta 20-40"/>
          <p:cNvSpPr/>
          <p:nvPr/>
        </p:nvSpPr>
        <p:spPr>
          <a:xfrm>
            <a:off x="9315450" y="1737360"/>
            <a:ext cx="1268730" cy="91440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10" name="Aresta 30-25"/>
          <p:cNvSpPr/>
          <p:nvPr/>
        </p:nvSpPr>
        <p:spPr>
          <a:xfrm flipH="1">
            <a:off x="9738360" y="3566160"/>
            <a:ext cx="422910" cy="91440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11" name="Aresta 40-30"/>
          <p:cNvSpPr/>
          <p:nvPr/>
        </p:nvSpPr>
        <p:spPr>
          <a:xfrm flipH="1">
            <a:off x="10161270" y="2651760"/>
            <a:ext cx="422910" cy="91440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12" name="Aresta 40-50"/>
          <p:cNvSpPr/>
          <p:nvPr/>
        </p:nvSpPr>
        <p:spPr>
          <a:xfrm>
            <a:off x="10584180" y="2651760"/>
            <a:ext cx="422910" cy="91440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13" name="Aresta 50-60"/>
          <p:cNvSpPr/>
          <p:nvPr/>
        </p:nvSpPr>
        <p:spPr>
          <a:xfrm>
            <a:off x="11007090" y="3566160"/>
            <a:ext cx="422910" cy="91440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14" name="Nó 5"/>
          <p:cNvSpPr/>
          <p:nvPr/>
        </p:nvSpPr>
        <p:spPr>
          <a:xfrm>
            <a:off x="7772400" y="3291840"/>
            <a:ext cx="548640" cy="5486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Chave 5"/>
          <p:cNvSpPr txBox="1"/>
          <p:nvPr/>
        </p:nvSpPr>
        <p:spPr>
          <a:xfrm>
            <a:off x="777240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6" name="Nó 10"/>
          <p:cNvSpPr/>
          <p:nvPr/>
        </p:nvSpPr>
        <p:spPr>
          <a:xfrm>
            <a:off x="8195310" y="2377440"/>
            <a:ext cx="548640" cy="548640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17" name="Chave 10"/>
          <p:cNvSpPr txBox="1"/>
          <p:nvPr/>
        </p:nvSpPr>
        <p:spPr>
          <a:xfrm>
            <a:off x="819531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18" name="Nó 15"/>
          <p:cNvSpPr/>
          <p:nvPr/>
        </p:nvSpPr>
        <p:spPr>
          <a:xfrm>
            <a:off x="8618220" y="3291840"/>
            <a:ext cx="548640" cy="5486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Chave 15"/>
          <p:cNvSpPr txBox="1"/>
          <p:nvPr/>
        </p:nvSpPr>
        <p:spPr>
          <a:xfrm>
            <a:off x="861822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15</a:t>
            </a:r>
            <a:endParaRPr lang="en-US" sz="1400" dirty="0"/>
          </a:p>
        </p:txBody>
      </p:sp>
      <p:sp>
        <p:nvSpPr>
          <p:cNvPr id="20" name="Nó 20"/>
          <p:cNvSpPr/>
          <p:nvPr/>
        </p:nvSpPr>
        <p:spPr>
          <a:xfrm>
            <a:off x="9041130" y="1463040"/>
            <a:ext cx="548640" cy="548640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21" name="Chave 20"/>
          <p:cNvSpPr txBox="1"/>
          <p:nvPr/>
        </p:nvSpPr>
        <p:spPr>
          <a:xfrm>
            <a:off x="904113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</a:t>
            </a:r>
            <a:endParaRPr lang="en-US" sz="1400" dirty="0"/>
          </a:p>
        </p:txBody>
      </p:sp>
      <p:sp>
        <p:nvSpPr>
          <p:cNvPr id="22" name="Nó 25"/>
          <p:cNvSpPr/>
          <p:nvPr/>
        </p:nvSpPr>
        <p:spPr>
          <a:xfrm>
            <a:off x="9464040" y="4206240"/>
            <a:ext cx="548640" cy="5486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Chave 25"/>
          <p:cNvSpPr txBox="1"/>
          <p:nvPr/>
        </p:nvSpPr>
        <p:spPr>
          <a:xfrm>
            <a:off x="94640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25</a:t>
            </a:r>
            <a:endParaRPr lang="en-US" sz="1400" dirty="0"/>
          </a:p>
        </p:txBody>
      </p:sp>
      <p:sp>
        <p:nvSpPr>
          <p:cNvPr id="24" name="Nó 30"/>
          <p:cNvSpPr/>
          <p:nvPr/>
        </p:nvSpPr>
        <p:spPr>
          <a:xfrm>
            <a:off x="9886950" y="3291840"/>
            <a:ext cx="548640" cy="548640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25" name="Chave 30"/>
          <p:cNvSpPr txBox="1"/>
          <p:nvPr/>
        </p:nvSpPr>
        <p:spPr>
          <a:xfrm>
            <a:off x="988695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30</a:t>
            </a:r>
            <a:endParaRPr lang="en-US" sz="1400" dirty="0"/>
          </a:p>
        </p:txBody>
      </p:sp>
      <p:sp>
        <p:nvSpPr>
          <p:cNvPr id="26" name="Nó 40"/>
          <p:cNvSpPr/>
          <p:nvPr/>
        </p:nvSpPr>
        <p:spPr>
          <a:xfrm>
            <a:off x="10309860" y="2377440"/>
            <a:ext cx="548640" cy="5486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Chave 40"/>
          <p:cNvSpPr txBox="1"/>
          <p:nvPr/>
        </p:nvSpPr>
        <p:spPr>
          <a:xfrm>
            <a:off x="103098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40</a:t>
            </a:r>
            <a:endParaRPr lang="en-US" sz="1400" dirty="0"/>
          </a:p>
        </p:txBody>
      </p:sp>
      <p:sp>
        <p:nvSpPr>
          <p:cNvPr id="28" name="Nó 50"/>
          <p:cNvSpPr/>
          <p:nvPr/>
        </p:nvSpPr>
        <p:spPr>
          <a:xfrm>
            <a:off x="10732770" y="3291840"/>
            <a:ext cx="548640" cy="548640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29" name="Chave 50"/>
          <p:cNvSpPr txBox="1"/>
          <p:nvPr/>
        </p:nvSpPr>
        <p:spPr>
          <a:xfrm>
            <a:off x="1073277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50</a:t>
            </a:r>
            <a:endParaRPr lang="en-US" sz="1400" dirty="0"/>
          </a:p>
        </p:txBody>
      </p:sp>
      <p:sp>
        <p:nvSpPr>
          <p:cNvPr id="30" name="Nó 60"/>
          <p:cNvSpPr/>
          <p:nvPr/>
        </p:nvSpPr>
        <p:spPr>
          <a:xfrm>
            <a:off x="11155680" y="4206240"/>
            <a:ext cx="548640" cy="5486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1" name="Chave 60"/>
          <p:cNvSpPr txBox="1"/>
          <p:nvPr/>
        </p:nvSpPr>
        <p:spPr>
          <a:xfrm>
            <a:off x="1115568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ópico"/>
          <p:cNvSpPr/>
          <p:nvPr/>
        </p:nvSpPr>
        <p:spPr>
          <a:xfrm>
            <a:off x="457200" y="425196"/>
            <a:ext cx="566928" cy="56692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Número do tópico"/>
          <p:cNvSpPr txBox="1"/>
          <p:nvPr/>
        </p:nvSpPr>
        <p:spPr>
          <a:xfrm>
            <a:off x="457200" y="4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8872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proposta: indexar encomendas em tempo real</a:t>
            </a:r>
            <a:endParaRPr lang="en-US" sz="3200" dirty="0"/>
          </a:p>
        </p:txBody>
      </p:sp>
      <p:sp>
        <p:nvSpPr>
          <p:cNvPr id="5" name="Contexto"/>
          <p:cNvSpPr txBox="1"/>
          <p:nvPr/>
        </p:nvSpPr>
        <p:spPr>
          <a:xfrm>
            <a:off x="548640" y="13716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</a:rPr>
              <a:t>Na Black Friday, a logística registra, rastreia e dá baixa em centenas de milhares de encomendas. Cada encomenda tem um ID único, gerado em sequência, e o índice precisa responder rápido em qualquer momento do pico.</a:t>
            </a:r>
            <a:endParaRPr lang="en-US" sz="1600" dirty="0"/>
          </a:p>
        </p:txBody>
      </p:sp>
      <p:sp>
        <p:nvSpPr>
          <p:cNvPr id="6" name="Subtítulo objetivos"/>
          <p:cNvSpPr txBox="1"/>
          <p:nvPr/>
        </p:nvSpPr>
        <p:spPr>
          <a:xfrm>
            <a:off x="54864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A3A"/>
                </a:solidFill>
              </a:rPr>
              <a:t>Objetivos do protótipo</a:t>
            </a:r>
            <a:endParaRPr lang="en-US" sz="1800" dirty="0"/>
          </a:p>
        </p:txBody>
      </p:sp>
      <p:sp>
        <p:nvSpPr>
          <p:cNvPr id="7" name="Objetivos"/>
          <p:cNvSpPr txBox="1"/>
          <p:nvPr/>
        </p:nvSpPr>
        <p:spPr>
          <a:xfrm>
            <a:off x="548640" y="342900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4"/>
                </a:solidFill>
              </a:rPr>
              <a:t>Registrar, localizar e remover IDs em O(log n), qualquer que seja a ordem de chegada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4"/>
                </a:solidFill>
              </a:rPr>
              <a:t>Implementar Árvore AVL e Árvore Rubro-Negra do zero, com as mesmas operações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4"/>
                </a:solidFill>
              </a:rPr>
              <a:t>Testar as duas com os mesmos dados e as mesmas sequências de operações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4"/>
                </a:solidFill>
              </a:rPr>
              <a:t>Recomendar uma estrutura com base em evidências medidas</a:t>
            </a:r>
            <a:endParaRPr lang="en-US" sz="1500" dirty="0"/>
          </a:p>
        </p:txBody>
      </p:sp>
      <p:sp>
        <p:nvSpPr>
          <p:cNvPr id="8" name="Cartão"/>
          <p:cNvSpPr/>
          <p:nvPr/>
        </p:nvSpPr>
        <p:spPr>
          <a:xfrm>
            <a:off x="6583680" y="13716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Destaque"/>
          <p:cNvSpPr txBox="1"/>
          <p:nvPr/>
        </p:nvSpPr>
        <p:spPr>
          <a:xfrm>
            <a:off x="6858000" y="15544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O(log n)</a:t>
            </a:r>
            <a:endParaRPr lang="en-US" sz="2600" dirty="0"/>
          </a:p>
        </p:txBody>
      </p:sp>
      <p:sp>
        <p:nvSpPr>
          <p:cNvPr id="10" name="Descrição"/>
          <p:cNvSpPr txBox="1"/>
          <p:nvPr/>
        </p:nvSpPr>
        <p:spPr>
          <a:xfrm>
            <a:off x="6858000" y="2103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custo garantido para inserir, buscar e remover, mesmo no pior caso</a:t>
            </a:r>
            <a:endParaRPr lang="en-US" sz="1400" dirty="0"/>
          </a:p>
        </p:txBody>
      </p:sp>
      <p:sp>
        <p:nvSpPr>
          <p:cNvPr id="11" name="Cartão"/>
          <p:cNvSpPr/>
          <p:nvPr/>
        </p:nvSpPr>
        <p:spPr>
          <a:xfrm>
            <a:off x="6583680" y="29718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2" name="Destaque"/>
          <p:cNvSpPr txBox="1"/>
          <p:nvPr/>
        </p:nvSpPr>
        <p:spPr>
          <a:xfrm>
            <a:off x="6858000" y="31546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em sequência</a:t>
            </a:r>
            <a:endParaRPr lang="en-US" sz="2600" dirty="0"/>
          </a:p>
        </p:txBody>
      </p:sp>
      <p:sp>
        <p:nvSpPr>
          <p:cNvPr id="13" name="Descrição"/>
          <p:cNvSpPr txBox="1"/>
          <p:nvPr/>
        </p:nvSpPr>
        <p:spPr>
          <a:xfrm>
            <a:off x="6858000" y="3703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a ordem natural de chegada é o pior caso de uma árvore de busca comum</a:t>
            </a:r>
            <a:endParaRPr lang="en-US" sz="1400" dirty="0"/>
          </a:p>
        </p:txBody>
      </p:sp>
      <p:sp>
        <p:nvSpPr>
          <p:cNvPr id="14" name="Cartão"/>
          <p:cNvSpPr/>
          <p:nvPr/>
        </p:nvSpPr>
        <p:spPr>
          <a:xfrm>
            <a:off x="6583680" y="45720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Destaque"/>
          <p:cNvSpPr txBox="1"/>
          <p:nvPr/>
        </p:nvSpPr>
        <p:spPr>
          <a:xfrm>
            <a:off x="6858000" y="47548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estruturas</a:t>
            </a:r>
            <a:endParaRPr lang="en-US" sz="2600" dirty="0"/>
          </a:p>
        </p:txBody>
      </p:sp>
      <p:sp>
        <p:nvSpPr>
          <p:cNvPr id="16" name="Descrição"/>
          <p:cNvSpPr txBox="1"/>
          <p:nvPr/>
        </p:nvSpPr>
        <p:spPr>
          <a:xfrm>
            <a:off x="6858000" y="5303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AVL e Rubro-Negra atrás da mesma interface, com os mesmos testes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ópico"/>
          <p:cNvSpPr/>
          <p:nvPr/>
        </p:nvSpPr>
        <p:spPr>
          <a:xfrm>
            <a:off x="457200" y="425196"/>
            <a:ext cx="566928" cy="56692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Número do tópico"/>
          <p:cNvSpPr txBox="1"/>
          <p:nvPr/>
        </p:nvSpPr>
        <p:spPr>
          <a:xfrm>
            <a:off x="457200" y="4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8872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desafio: a ordem de chegada importa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32588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3A"/>
                </a:solidFill>
              </a:rPr>
              <a:t>ABB comum, IDs 1 a 6 em ordem</a:t>
            </a:r>
            <a:endParaRPr lang="en-US" sz="1500" dirty="0"/>
          </a:p>
        </p:txBody>
      </p:sp>
      <p:sp>
        <p:nvSpPr>
          <p:cNvPr id="7" name="Aresta 1-2"/>
          <p:cNvSpPr/>
          <p:nvPr/>
        </p:nvSpPr>
        <p:spPr>
          <a:xfrm>
            <a:off x="1531620" y="2066544"/>
            <a:ext cx="685800" cy="38039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8" name="Aresta 2-3"/>
          <p:cNvSpPr/>
          <p:nvPr/>
        </p:nvSpPr>
        <p:spPr>
          <a:xfrm>
            <a:off x="2217420" y="2446934"/>
            <a:ext cx="685800" cy="38039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9" name="Aresta 3-4"/>
          <p:cNvSpPr/>
          <p:nvPr/>
        </p:nvSpPr>
        <p:spPr>
          <a:xfrm>
            <a:off x="2903220" y="2827325"/>
            <a:ext cx="685800" cy="38039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10" name="Aresta 4-5"/>
          <p:cNvSpPr/>
          <p:nvPr/>
        </p:nvSpPr>
        <p:spPr>
          <a:xfrm>
            <a:off x="3589020" y="3207715"/>
            <a:ext cx="685800" cy="38039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11" name="Aresta 5-6"/>
          <p:cNvSpPr/>
          <p:nvPr/>
        </p:nvSpPr>
        <p:spPr>
          <a:xfrm>
            <a:off x="4274820" y="3588106"/>
            <a:ext cx="685800" cy="38039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12" name="Nó 1"/>
          <p:cNvSpPr/>
          <p:nvPr/>
        </p:nvSpPr>
        <p:spPr>
          <a:xfrm>
            <a:off x="1339596" y="1874520"/>
            <a:ext cx="384048" cy="384048"/>
          </a:xfrm>
          <a:prstGeom prst="ellipse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3" name="Chave 1"/>
          <p:cNvSpPr txBox="1"/>
          <p:nvPr/>
        </p:nvSpPr>
        <p:spPr>
          <a:xfrm>
            <a:off x="133959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Nó 2"/>
          <p:cNvSpPr/>
          <p:nvPr/>
        </p:nvSpPr>
        <p:spPr>
          <a:xfrm>
            <a:off x="2025396" y="2254910"/>
            <a:ext cx="384048" cy="384048"/>
          </a:xfrm>
          <a:prstGeom prst="ellipse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5" name="Chave 2"/>
          <p:cNvSpPr txBox="1"/>
          <p:nvPr/>
        </p:nvSpPr>
        <p:spPr>
          <a:xfrm>
            <a:off x="2025396" y="22549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Nó 3"/>
          <p:cNvSpPr/>
          <p:nvPr/>
        </p:nvSpPr>
        <p:spPr>
          <a:xfrm>
            <a:off x="2711196" y="2635301"/>
            <a:ext cx="384048" cy="384048"/>
          </a:xfrm>
          <a:prstGeom prst="ellipse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7" name="Chave 3"/>
          <p:cNvSpPr txBox="1"/>
          <p:nvPr/>
        </p:nvSpPr>
        <p:spPr>
          <a:xfrm>
            <a:off x="2711196" y="263530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Nó 4"/>
          <p:cNvSpPr/>
          <p:nvPr/>
        </p:nvSpPr>
        <p:spPr>
          <a:xfrm>
            <a:off x="3396996" y="3015691"/>
            <a:ext cx="384048" cy="384048"/>
          </a:xfrm>
          <a:prstGeom prst="ellipse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9" name="Chave 4"/>
          <p:cNvSpPr txBox="1"/>
          <p:nvPr/>
        </p:nvSpPr>
        <p:spPr>
          <a:xfrm>
            <a:off x="3396996" y="301569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Nó 5"/>
          <p:cNvSpPr/>
          <p:nvPr/>
        </p:nvSpPr>
        <p:spPr>
          <a:xfrm>
            <a:off x="4082796" y="3396082"/>
            <a:ext cx="384048" cy="384048"/>
          </a:xfrm>
          <a:prstGeom prst="ellipse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1" name="Chave 5"/>
          <p:cNvSpPr txBox="1"/>
          <p:nvPr/>
        </p:nvSpPr>
        <p:spPr>
          <a:xfrm>
            <a:off x="4082796" y="33960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Nó 6"/>
          <p:cNvSpPr/>
          <p:nvPr/>
        </p:nvSpPr>
        <p:spPr>
          <a:xfrm>
            <a:off x="4768596" y="3776472"/>
            <a:ext cx="384048" cy="384048"/>
          </a:xfrm>
          <a:prstGeom prst="ellipse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3" name="Chave 6"/>
          <p:cNvSpPr txBox="1"/>
          <p:nvPr/>
        </p:nvSpPr>
        <p:spPr>
          <a:xfrm>
            <a:off x="4768596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A77"/>
                </a:solidFill>
              </a:rPr>
              <a:t>Altura 6: virou uma lista encadeada</a:t>
            </a:r>
            <a:endParaRPr lang="en-US" sz="1400" dirty="0"/>
          </a:p>
        </p:txBody>
      </p:sp>
      <p:sp>
        <p:nvSpPr>
          <p:cNvPr id="25" name="Cartão"/>
          <p:cNvSpPr/>
          <p:nvPr/>
        </p:nvSpPr>
        <p:spPr>
          <a:xfrm>
            <a:off x="6263640" y="132588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1463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3A"/>
                </a:solidFill>
              </a:rPr>
              <a:t>Árvore balanceada, mesmos IDs</a:t>
            </a:r>
            <a:endParaRPr lang="en-US" sz="1500" dirty="0"/>
          </a:p>
        </p:txBody>
      </p:sp>
      <p:sp>
        <p:nvSpPr>
          <p:cNvPr id="27" name="Aresta 2-1"/>
          <p:cNvSpPr/>
          <p:nvPr/>
        </p:nvSpPr>
        <p:spPr>
          <a:xfrm flipH="1">
            <a:off x="7246620" y="2971800"/>
            <a:ext cx="685800" cy="758952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28" name="Aresta 2-3"/>
          <p:cNvSpPr/>
          <p:nvPr/>
        </p:nvSpPr>
        <p:spPr>
          <a:xfrm>
            <a:off x="7932420" y="2971800"/>
            <a:ext cx="685800" cy="758952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29" name="Aresta 4-2"/>
          <p:cNvSpPr/>
          <p:nvPr/>
        </p:nvSpPr>
        <p:spPr>
          <a:xfrm flipH="1">
            <a:off x="7932420" y="2212848"/>
            <a:ext cx="1371600" cy="758952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30" name="Aresta 4-5"/>
          <p:cNvSpPr/>
          <p:nvPr/>
        </p:nvSpPr>
        <p:spPr>
          <a:xfrm>
            <a:off x="9304020" y="2212848"/>
            <a:ext cx="685800" cy="758952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31" name="Aresta 5-6"/>
          <p:cNvSpPr/>
          <p:nvPr/>
        </p:nvSpPr>
        <p:spPr>
          <a:xfrm>
            <a:off x="9989820" y="2971800"/>
            <a:ext cx="685800" cy="758952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32" name="Nó 1"/>
          <p:cNvSpPr/>
          <p:nvPr/>
        </p:nvSpPr>
        <p:spPr>
          <a:xfrm>
            <a:off x="6999732" y="3483864"/>
            <a:ext cx="493776" cy="493776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33" name="Chave 1"/>
          <p:cNvSpPr txBox="1"/>
          <p:nvPr/>
        </p:nvSpPr>
        <p:spPr>
          <a:xfrm>
            <a:off x="6999732" y="34838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34" name="Nó 2"/>
          <p:cNvSpPr/>
          <p:nvPr/>
        </p:nvSpPr>
        <p:spPr>
          <a:xfrm>
            <a:off x="7685532" y="2724912"/>
            <a:ext cx="493776" cy="493776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35" name="Chave 2"/>
          <p:cNvSpPr txBox="1"/>
          <p:nvPr/>
        </p:nvSpPr>
        <p:spPr>
          <a:xfrm>
            <a:off x="7685532" y="27249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6" name="Nó 3"/>
          <p:cNvSpPr/>
          <p:nvPr/>
        </p:nvSpPr>
        <p:spPr>
          <a:xfrm>
            <a:off x="8371332" y="3483864"/>
            <a:ext cx="493776" cy="493776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37" name="Chave 3"/>
          <p:cNvSpPr txBox="1"/>
          <p:nvPr/>
        </p:nvSpPr>
        <p:spPr>
          <a:xfrm>
            <a:off x="8371332" y="34838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8" name="Nó 4"/>
          <p:cNvSpPr/>
          <p:nvPr/>
        </p:nvSpPr>
        <p:spPr>
          <a:xfrm>
            <a:off x="9057132" y="1965960"/>
            <a:ext cx="493776" cy="493776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39" name="Chave 4"/>
          <p:cNvSpPr txBox="1"/>
          <p:nvPr/>
        </p:nvSpPr>
        <p:spPr>
          <a:xfrm>
            <a:off x="9057132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40" name="Nó 5"/>
          <p:cNvSpPr/>
          <p:nvPr/>
        </p:nvSpPr>
        <p:spPr>
          <a:xfrm>
            <a:off x="9742932" y="2724912"/>
            <a:ext cx="493776" cy="493776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41" name="Chave 5"/>
          <p:cNvSpPr txBox="1"/>
          <p:nvPr/>
        </p:nvSpPr>
        <p:spPr>
          <a:xfrm>
            <a:off x="9742932" y="27249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2" name="Nó 6"/>
          <p:cNvSpPr/>
          <p:nvPr/>
        </p:nvSpPr>
        <p:spPr>
          <a:xfrm>
            <a:off x="10428732" y="3483864"/>
            <a:ext cx="493776" cy="493776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43" name="Chave 6"/>
          <p:cNvSpPr txBox="1"/>
          <p:nvPr/>
        </p:nvSpPr>
        <p:spPr>
          <a:xfrm>
            <a:off x="10428732" y="34838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49224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A77"/>
                </a:solidFill>
              </a:rPr>
              <a:t>Altura 3: rotações mantêm a árvore baixa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4800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</a:rPr>
              <a:t>Com 10.000 IDs sequenciais (medido no protótipo):</a:t>
            </a:r>
            <a:endParaRPr lang="en-US" sz="1500" dirty="0"/>
          </a:p>
        </p:txBody>
      </p:sp>
      <p:sp>
        <p:nvSpPr>
          <p:cNvPr id="46" name="Número em destaque"/>
          <p:cNvSpPr txBox="1"/>
          <p:nvPr/>
        </p:nvSpPr>
        <p:spPr>
          <a:xfrm>
            <a:off x="548640" y="5120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5E6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</a:t>
            </a:r>
            <a:endParaRPr lang="en-US" sz="2800" dirty="0"/>
          </a:p>
        </p:txBody>
      </p:sp>
      <p:sp>
        <p:nvSpPr>
          <p:cNvPr id="47" name="Rótulo do número"/>
          <p:cNvSpPr txBox="1"/>
          <p:nvPr/>
        </p:nvSpPr>
        <p:spPr>
          <a:xfrm>
            <a:off x="548640" y="56144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A77"/>
                </a:solidFill>
              </a:rPr>
              <a:t>altura da ABB comum: busca O(n)</a:t>
            </a:r>
            <a:endParaRPr lang="en-US" sz="1300" dirty="0"/>
          </a:p>
        </p:txBody>
      </p:sp>
      <p:sp>
        <p:nvSpPr>
          <p:cNvPr id="48" name="Número em destaque"/>
          <p:cNvSpPr txBox="1"/>
          <p:nvPr/>
        </p:nvSpPr>
        <p:spPr>
          <a:xfrm>
            <a:off x="4343400" y="5120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800" dirty="0"/>
          </a:p>
        </p:txBody>
      </p:sp>
      <p:sp>
        <p:nvSpPr>
          <p:cNvPr id="49" name="Rótulo do número"/>
          <p:cNvSpPr txBox="1"/>
          <p:nvPr/>
        </p:nvSpPr>
        <p:spPr>
          <a:xfrm>
            <a:off x="4343400" y="56144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A77"/>
                </a:solidFill>
              </a:rPr>
              <a:t>altura da AVL</a:t>
            </a:r>
            <a:endParaRPr lang="en-US" sz="1300" dirty="0"/>
          </a:p>
        </p:txBody>
      </p:sp>
      <p:sp>
        <p:nvSpPr>
          <p:cNvPr id="50" name="Número em destaque"/>
          <p:cNvSpPr txBox="1"/>
          <p:nvPr/>
        </p:nvSpPr>
        <p:spPr>
          <a:xfrm>
            <a:off x="8138160" y="5120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800" dirty="0"/>
          </a:p>
        </p:txBody>
      </p:sp>
      <p:sp>
        <p:nvSpPr>
          <p:cNvPr id="51" name="Rótulo do número"/>
          <p:cNvSpPr txBox="1"/>
          <p:nvPr/>
        </p:nvSpPr>
        <p:spPr>
          <a:xfrm>
            <a:off x="8138160" y="56144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A77"/>
                </a:solidFill>
              </a:rPr>
              <a:t>altura da Rubro-Negra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ópico"/>
          <p:cNvSpPr/>
          <p:nvPr/>
        </p:nvSpPr>
        <p:spPr>
          <a:xfrm>
            <a:off x="457200" y="425196"/>
            <a:ext cx="566928" cy="56692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Número do tópico"/>
          <p:cNvSpPr txBox="1"/>
          <p:nvPr/>
        </p:nvSpPr>
        <p:spPr>
          <a:xfrm>
            <a:off x="457200" y="4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8872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solução: um protótipo, duas estruturas</a:t>
            </a:r>
            <a:endParaRPr lang="en-US" sz="3200" dirty="0"/>
          </a:p>
        </p:txBody>
      </p:sp>
      <p:sp>
        <p:nvSpPr>
          <p:cNvPr id="5" name="Menu"/>
          <p:cNvSpPr/>
          <p:nvPr/>
        </p:nvSpPr>
        <p:spPr>
          <a:xfrm>
            <a:off x="548640" y="146304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Menu (texto)"/>
          <p:cNvSpPr txBox="1"/>
          <p:nvPr/>
        </p:nvSpPr>
        <p:spPr>
          <a:xfrm>
            <a:off x="548640" y="1463040"/>
            <a:ext cx="16916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A"/>
                </a:solidFill>
              </a:rPr>
              <a:t>Menu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A3A"/>
                </a:solidFill>
              </a:rPr>
              <a:t>MenuInterativo</a:t>
            </a:r>
            <a:endParaRPr lang="en-US" sz="1400" dirty="0"/>
          </a:p>
        </p:txBody>
      </p:sp>
      <p:sp>
        <p:nvSpPr>
          <p:cNvPr id="7" name="Testes"/>
          <p:cNvSpPr/>
          <p:nvPr/>
        </p:nvSpPr>
        <p:spPr>
          <a:xfrm>
            <a:off x="2423160" y="146304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8" name="Testes (texto)"/>
          <p:cNvSpPr txBox="1"/>
          <p:nvPr/>
        </p:nvSpPr>
        <p:spPr>
          <a:xfrm>
            <a:off x="2423160" y="1463040"/>
            <a:ext cx="16916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A"/>
                </a:solidFill>
              </a:rPr>
              <a:t>Testes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A3A"/>
                </a:solidFill>
              </a:rPr>
              <a:t>TestesArvores</a:t>
            </a:r>
            <a:endParaRPr lang="en-US" sz="1400" dirty="0"/>
          </a:p>
        </p:txBody>
      </p:sp>
      <p:sp>
        <p:nvSpPr>
          <p:cNvPr id="9" name="Análise"/>
          <p:cNvSpPr/>
          <p:nvPr/>
        </p:nvSpPr>
        <p:spPr>
          <a:xfrm>
            <a:off x="4297680" y="146304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Análise (texto)"/>
          <p:cNvSpPr txBox="1"/>
          <p:nvPr/>
        </p:nvSpPr>
        <p:spPr>
          <a:xfrm>
            <a:off x="4297680" y="1463040"/>
            <a:ext cx="16916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3A"/>
                </a:solidFill>
              </a:rPr>
              <a:t>Análise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A3A"/>
                </a:solidFill>
              </a:rPr>
              <a:t>Benchmark</a:t>
            </a:r>
            <a:endParaRPr lang="en-US" sz="1400" dirty="0"/>
          </a:p>
        </p:txBody>
      </p:sp>
      <p:sp>
        <p:nvSpPr>
          <p:cNvPr id="11" name="ArvoreBalanceada"/>
          <p:cNvSpPr/>
          <p:nvPr/>
        </p:nvSpPr>
        <p:spPr>
          <a:xfrm>
            <a:off x="548640" y="29260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12" name="ArvoreBalanceada (texto)"/>
          <p:cNvSpPr txBox="1"/>
          <p:nvPr/>
        </p:nvSpPr>
        <p:spPr>
          <a:xfrm>
            <a:off x="548640" y="2926080"/>
            <a:ext cx="54406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ArvoreBalanceada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interface comum: inserir, remover, buscar, emOrdem, visualizar…</a:t>
            </a:r>
            <a:endParaRPr lang="en-US" sz="1400" dirty="0"/>
          </a:p>
        </p:txBody>
      </p:sp>
      <p:sp>
        <p:nvSpPr>
          <p:cNvPr id="13" name="ArvoreAVL"/>
          <p:cNvSpPr/>
          <p:nvPr/>
        </p:nvSpPr>
        <p:spPr>
          <a:xfrm>
            <a:off x="548640" y="43891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14" name="ArvoreAVL (texto)"/>
          <p:cNvSpPr txBox="1"/>
          <p:nvPr/>
        </p:nvSpPr>
        <p:spPr>
          <a:xfrm>
            <a:off x="548640" y="4389120"/>
            <a:ext cx="26517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ArvoreAVL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altura e fator de balanceamento</a:t>
            </a:r>
            <a:endParaRPr lang="en-US" sz="1400" dirty="0"/>
          </a:p>
        </p:txBody>
      </p:sp>
      <p:sp>
        <p:nvSpPr>
          <p:cNvPr id="15" name="ArvoreRubroNegra"/>
          <p:cNvSpPr/>
          <p:nvPr/>
        </p:nvSpPr>
        <p:spPr>
          <a:xfrm>
            <a:off x="3337560" y="43891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ArvoreRubroNegra (texto)"/>
          <p:cNvSpPr txBox="1"/>
          <p:nvPr/>
        </p:nvSpPr>
        <p:spPr>
          <a:xfrm>
            <a:off x="3337560" y="4389120"/>
            <a:ext cx="26517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ArvoreRubroNegra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cores e nó sentinela NIL</a:t>
            </a:r>
            <a:endParaRPr lang="en-US" sz="1400" dirty="0"/>
          </a:p>
        </p:txBody>
      </p:sp>
      <p:sp>
        <p:nvSpPr>
          <p:cNvPr id="17" name="Dependência"/>
          <p:cNvSpPr/>
          <p:nvPr/>
        </p:nvSpPr>
        <p:spPr>
          <a:xfrm>
            <a:off x="1394460" y="2331720"/>
            <a:ext cx="0" cy="59436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18" name="Dependência"/>
          <p:cNvSpPr/>
          <p:nvPr/>
        </p:nvSpPr>
        <p:spPr>
          <a:xfrm>
            <a:off x="3268980" y="2331720"/>
            <a:ext cx="0" cy="59436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19" name="Dependência"/>
          <p:cNvSpPr/>
          <p:nvPr/>
        </p:nvSpPr>
        <p:spPr>
          <a:xfrm>
            <a:off x="5143500" y="2331720"/>
            <a:ext cx="0" cy="59436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0" name="Dependência"/>
          <p:cNvSpPr/>
          <p:nvPr/>
        </p:nvSpPr>
        <p:spPr>
          <a:xfrm>
            <a:off x="1874520" y="3794760"/>
            <a:ext cx="0" cy="59436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1" name="Dependência"/>
          <p:cNvSpPr/>
          <p:nvPr/>
        </p:nvSpPr>
        <p:spPr>
          <a:xfrm>
            <a:off x="4663440" y="3794760"/>
            <a:ext cx="0" cy="59436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48640" y="544068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A77"/>
                </a:solidFill>
              </a:rPr>
              <a:t>Mesma interface: o menu, os testes e a análise executam exatamente as mesmas operações nas duas árvores.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A3A"/>
                </a:solidFill>
              </a:rPr>
              <a:t>Funcionalidades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182880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4"/>
                </a:solidFill>
              </a:rPr>
              <a:t>Inserção e remoção de um ou vários IDs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4"/>
                </a:solidFill>
              </a:rPr>
              <a:t>Busca, com nº de comparações, filhos e cor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4"/>
                </a:solidFill>
              </a:rPr>
              <a:t>Percurso em ordem (IDs crescentes)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4"/>
                </a:solidFill>
              </a:rPr>
              <a:t>Visualização: FB na AVL, cores na Rubro-Negra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4"/>
                </a:solidFill>
              </a:rPr>
              <a:t>Modo detalhado: rotações e cores passo a passo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4"/>
                </a:solidFill>
              </a:rPr>
              <a:t>Estatísticas e verificação das propriedades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4"/>
                </a:solidFill>
              </a:rPr>
              <a:t>Comparação AVL x Rubro-Negra lado a lado</a:t>
            </a:r>
            <a:endParaRPr lang="en-US" sz="1500" dirty="0"/>
          </a:p>
        </p:txBody>
      </p:sp>
      <p:sp>
        <p:nvSpPr>
          <p:cNvPr id="25" name="Linha de comando"/>
          <p:cNvSpPr/>
          <p:nvPr/>
        </p:nvSpPr>
        <p:spPr>
          <a:xfrm>
            <a:off x="6492240" y="4617720"/>
            <a:ext cx="5166360" cy="822960"/>
          </a:xfrm>
          <a:prstGeom prst="roundRect">
            <a:avLst>
              <a:gd name="adj" fmla="val 8889"/>
            </a:avLst>
          </a:prstGeom>
          <a:solidFill>
            <a:srgbClr val="11161C"/>
          </a:solidFill>
          <a:ln w="12700">
            <a:solidFill>
              <a:srgbClr val="11161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47274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-jar dist/arvores-balanceadas.jar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[--avl | --rn | --testes | --benchmark]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ópico"/>
          <p:cNvSpPr/>
          <p:nvPr/>
        </p:nvSpPr>
        <p:spPr>
          <a:xfrm>
            <a:off x="457200" y="425196"/>
            <a:ext cx="566928" cy="56692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Número do tópico"/>
          <p:cNvSpPr txBox="1"/>
          <p:nvPr/>
        </p:nvSpPr>
        <p:spPr>
          <a:xfrm>
            <a:off x="457200" y="4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8872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de implementação</a:t>
            </a:r>
            <a:endParaRPr lang="en-US" sz="3200" dirty="0"/>
          </a:p>
        </p:txBody>
      </p:sp>
      <p:graphicFrame>
        <p:nvGraphicFramePr>
          <p:cNvPr id="6" name="Tabela de decisõ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18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Situação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Decisão adotada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3A"/>
                          </a:solidFill>
                        </a:rPr>
                        <a:t>Inserir ID repetido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</a:rPr>
                        <a:t>Rejeitado com aviso; a árvore não muda (ID de encomenda é único)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3A"/>
                          </a:solidFill>
                        </a:rPr>
                        <a:t>Remover ou buscar ID inexistente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</a:rPr>
                        <a:t>Informa "não existe"; nenhuma alteração na estrutura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3A"/>
                          </a:solidFill>
                        </a:rPr>
                        <a:t>Remover nó com dois filhos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</a:rPr>
                        <a:t>Substituído pelo sucessor em ordem (menor da subárvore direita)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3A"/>
                          </a:solidFill>
                        </a:rPr>
                        <a:t>Árvore vazia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</a:rPr>
                        <a:t>Nenhuma operação falha; busca e remoção devolvem "não encontrado"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3A"/>
                          </a:solidFill>
                        </a:rPr>
                        <a:t>Entrada inválida no menu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</a:rPr>
                        <a:t>Valor ignorado com aviso; o programa continua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3A"/>
                          </a:solidFill>
                        </a:rPr>
                        <a:t>AVL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</a:rPr>
                        <a:t>Recursiva; cada nó guarda a altura; rebalanceia na volta da recursão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3A"/>
                          </a:solidFill>
                        </a:rPr>
                        <a:t>Rubro-Negra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</a:rPr>
                        <a:t>Iterativa (Cormen, cap. 13), com ponteiro para o pai e sentinela NIL preto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3A"/>
                          </a:solidFill>
                        </a:rPr>
                        <a:t>Medida de altura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</a:rPr>
                        <a:t>Em níveis: vazia = 0, um nó = 1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3A"/>
                          </a:solidFill>
                        </a:rPr>
                        <a:t>Contagem de rotações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</a:rPr>
                        <a:t>Rotação dupla = 2 rotações simples, nas duas árvores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3A"/>
                          </a:solidFill>
                        </a:rPr>
                        <a:t>Recolorações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</a:rPr>
                        <a:t>Contadas só quando o nó realmente muda de cor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ópico"/>
          <p:cNvSpPr/>
          <p:nvPr/>
        </p:nvSpPr>
        <p:spPr>
          <a:xfrm>
            <a:off x="457200" y="425196"/>
            <a:ext cx="566928" cy="56692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Número do tópico"/>
          <p:cNvSpPr txBox="1"/>
          <p:nvPr/>
        </p:nvSpPr>
        <p:spPr>
          <a:xfrm>
            <a:off x="457200" y="4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8872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Árvore AVL: balanceamento por altura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3716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361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 = altura(esq) − altura(dir)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305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</a:rPr>
              <a:t>Invariante: FB ∈ {−1, 0, +1} em todos os nós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4"/>
                </a:solidFill>
              </a:rPr>
              <a:t>Cada nó guarda a própria altura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4"/>
                </a:solidFill>
              </a:rPr>
              <a:t>Na volta da recursão, as alturas do caminho são atualizadas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4"/>
                </a:solidFill>
              </a:rPr>
              <a:t>O primeiro nó com |FB| = 2 é corrigido com uma rotação simples ou dupla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4"/>
                </a:solidFill>
              </a:rPr>
              <a:t>Inserção: no máximo 1 correção. Remoção: até 1 por nível, O(log n)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4"/>
                </a:solidFill>
              </a:rPr>
              <a:t>Altura garantida: h &lt; 1,44 · log₂(n + 2)</a:t>
            </a:r>
            <a:endParaRPr lang="en-US" sz="1500" dirty="0"/>
          </a:p>
        </p:txBody>
      </p:sp>
      <p:graphicFrame>
        <p:nvGraphicFramePr>
          <p:cNvPr id="7" name="Casos AV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371600"/>
          <a:ext cx="56235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828800"/>
                <a:gridCol w="2103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Condição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Correção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7C7A"/>
                          </a:solidFill>
                        </a:rPr>
                        <a:t>Esquerda-Esquerda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</a:rPr>
                        <a:t>FB = +2 e FB(esq) ≥ 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</a:rPr>
                        <a:t>rotação simples à direita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7C7A"/>
                          </a:solidFill>
                        </a:rPr>
                        <a:t>Direita-Direita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</a:rPr>
                        <a:t>FB = −2 e FB(dir) ≤ 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</a:rPr>
                        <a:t>rotação simples à esquerda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7C7A"/>
                          </a:solidFill>
                        </a:rPr>
                        <a:t>Esquerda-Direita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</a:rPr>
                        <a:t>FB = +2 e FB(esq) &lt; 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</a:rPr>
                        <a:t>esquerda no filho, depois direita no nó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7C7A"/>
                          </a:solidFill>
                        </a:rPr>
                        <a:t>Direita-Esquerda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</a:rPr>
                        <a:t>FB = −2 e FB(dir) &gt; 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</a:rPr>
                        <a:t>direita no filho, depois esquerda no nó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035040" y="452628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A77"/>
                </a:solidFill>
              </a:rPr>
              <a:t>Os dois últimos casos são rotações duplas: o filho pende para o lado oposto, então uma rotação simples apenas espelharia o desequilíbrio.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ópico"/>
          <p:cNvSpPr/>
          <p:nvPr/>
        </p:nvSpPr>
        <p:spPr>
          <a:xfrm>
            <a:off x="457200" y="425196"/>
            <a:ext cx="566928" cy="56692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Número do tópico"/>
          <p:cNvSpPr txBox="1"/>
          <p:nvPr/>
        </p:nvSpPr>
        <p:spPr>
          <a:xfrm>
            <a:off x="457200" y="4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8872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AVL: rotação dupla ao inserir o ID 25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3716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3A"/>
                </a:solidFill>
              </a:rPr>
              <a:t>1. Após inserir 25</a:t>
            </a:r>
            <a:endParaRPr lang="en-US" sz="1600" dirty="0"/>
          </a:p>
        </p:txBody>
      </p:sp>
      <p:sp>
        <p:nvSpPr>
          <p:cNvPr id="7" name="Aresta 20-10"/>
          <p:cNvSpPr/>
          <p:nvPr/>
        </p:nvSpPr>
        <p:spPr>
          <a:xfrm flipH="1">
            <a:off x="1005840" y="2240280"/>
            <a:ext cx="502920" cy="64008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8" name="Aresta 20-40"/>
          <p:cNvSpPr/>
          <p:nvPr/>
        </p:nvSpPr>
        <p:spPr>
          <a:xfrm>
            <a:off x="1508760" y="2240280"/>
            <a:ext cx="1508760" cy="64008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9" name="Aresta 30-25"/>
          <p:cNvSpPr/>
          <p:nvPr/>
        </p:nvSpPr>
        <p:spPr>
          <a:xfrm flipH="1">
            <a:off x="2011680" y="3520440"/>
            <a:ext cx="502920" cy="64008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10" name="Aresta 40-30"/>
          <p:cNvSpPr/>
          <p:nvPr/>
        </p:nvSpPr>
        <p:spPr>
          <a:xfrm flipH="1">
            <a:off x="2514600" y="2880360"/>
            <a:ext cx="502920" cy="64008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11" name="Aresta 40-50"/>
          <p:cNvSpPr/>
          <p:nvPr/>
        </p:nvSpPr>
        <p:spPr>
          <a:xfrm>
            <a:off x="3017520" y="2880360"/>
            <a:ext cx="502920" cy="64008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12" name="Nó 10"/>
          <p:cNvSpPr/>
          <p:nvPr/>
        </p:nvSpPr>
        <p:spPr>
          <a:xfrm>
            <a:off x="777240" y="2651760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13" name="Chave 10"/>
          <p:cNvSpPr txBox="1"/>
          <p:nvPr/>
        </p:nvSpPr>
        <p:spPr>
          <a:xfrm>
            <a:off x="777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14" name="FB 10"/>
          <p:cNvSpPr txBox="1"/>
          <p:nvPr/>
        </p:nvSpPr>
        <p:spPr>
          <a:xfrm>
            <a:off x="377190" y="24688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A77"/>
                </a:solidFill>
              </a:rPr>
              <a:t>0</a:t>
            </a:r>
            <a:endParaRPr lang="en-US" sz="1100" dirty="0"/>
          </a:p>
        </p:txBody>
      </p:sp>
      <p:sp>
        <p:nvSpPr>
          <p:cNvPr id="15" name="Nó 20"/>
          <p:cNvSpPr/>
          <p:nvPr/>
        </p:nvSpPr>
        <p:spPr>
          <a:xfrm>
            <a:off x="1280160" y="2011680"/>
            <a:ext cx="457200" cy="457200"/>
          </a:xfrm>
          <a:prstGeom prst="ellipse">
            <a:avLst/>
          </a:prstGeom>
          <a:solidFill>
            <a:srgbClr val="0F7C7A"/>
          </a:solidFill>
          <a:ln w="44450">
            <a:solidFill>
              <a:srgbClr val="F28C28"/>
            </a:solidFill>
            <a:prstDash val="solid"/>
          </a:ln>
        </p:spPr>
      </p:sp>
      <p:sp>
        <p:nvSpPr>
          <p:cNvPr id="16" name="Chave 20"/>
          <p:cNvSpPr txBox="1"/>
          <p:nvPr/>
        </p:nvSpPr>
        <p:spPr>
          <a:xfrm>
            <a:off x="12801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</a:t>
            </a:r>
            <a:endParaRPr lang="en-US" sz="1200" dirty="0"/>
          </a:p>
        </p:txBody>
      </p:sp>
      <p:sp>
        <p:nvSpPr>
          <p:cNvPr id="17" name="FB 20"/>
          <p:cNvSpPr txBox="1"/>
          <p:nvPr/>
        </p:nvSpPr>
        <p:spPr>
          <a:xfrm>
            <a:off x="1680210" y="1828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C28"/>
                </a:solidFill>
              </a:rPr>
              <a:t>−2</a:t>
            </a:r>
            <a:endParaRPr lang="en-US" sz="1100" dirty="0"/>
          </a:p>
        </p:txBody>
      </p:sp>
      <p:sp>
        <p:nvSpPr>
          <p:cNvPr id="18" name="Nó 25"/>
          <p:cNvSpPr/>
          <p:nvPr/>
        </p:nvSpPr>
        <p:spPr>
          <a:xfrm>
            <a:off x="1783080" y="3931920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19" name="Chave 25"/>
          <p:cNvSpPr txBox="1"/>
          <p:nvPr/>
        </p:nvSpPr>
        <p:spPr>
          <a:xfrm>
            <a:off x="1783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25</a:t>
            </a:r>
            <a:endParaRPr lang="en-US" sz="1200" dirty="0"/>
          </a:p>
        </p:txBody>
      </p:sp>
      <p:sp>
        <p:nvSpPr>
          <p:cNvPr id="20" name="FB 25"/>
          <p:cNvSpPr txBox="1"/>
          <p:nvPr/>
        </p:nvSpPr>
        <p:spPr>
          <a:xfrm>
            <a:off x="1383030" y="37490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A77"/>
                </a:solidFill>
              </a:rPr>
              <a:t>0</a:t>
            </a:r>
            <a:endParaRPr lang="en-US" sz="1100" dirty="0"/>
          </a:p>
        </p:txBody>
      </p:sp>
      <p:sp>
        <p:nvSpPr>
          <p:cNvPr id="21" name="Nó 30"/>
          <p:cNvSpPr/>
          <p:nvPr/>
        </p:nvSpPr>
        <p:spPr>
          <a:xfrm>
            <a:off x="2286000" y="3291840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22" name="Chave 30"/>
          <p:cNvSpPr txBox="1"/>
          <p:nvPr/>
        </p:nvSpPr>
        <p:spPr>
          <a:xfrm>
            <a:off x="22860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</a:t>
            </a:r>
            <a:endParaRPr lang="en-US" sz="1200" dirty="0"/>
          </a:p>
        </p:txBody>
      </p:sp>
      <p:sp>
        <p:nvSpPr>
          <p:cNvPr id="23" name="FB 30"/>
          <p:cNvSpPr txBox="1"/>
          <p:nvPr/>
        </p:nvSpPr>
        <p:spPr>
          <a:xfrm>
            <a:off x="1885950" y="31089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A77"/>
                </a:solidFill>
              </a:rPr>
              <a:t>+1</a:t>
            </a:r>
            <a:endParaRPr lang="en-US" sz="1100" dirty="0"/>
          </a:p>
        </p:txBody>
      </p:sp>
      <p:sp>
        <p:nvSpPr>
          <p:cNvPr id="24" name="Nó 40"/>
          <p:cNvSpPr/>
          <p:nvPr/>
        </p:nvSpPr>
        <p:spPr>
          <a:xfrm>
            <a:off x="2788920" y="2651760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25" name="Chave 40"/>
          <p:cNvSpPr txBox="1"/>
          <p:nvPr/>
        </p:nvSpPr>
        <p:spPr>
          <a:xfrm>
            <a:off x="27889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40</a:t>
            </a:r>
            <a:endParaRPr lang="en-US" sz="1200" dirty="0"/>
          </a:p>
        </p:txBody>
      </p:sp>
      <p:sp>
        <p:nvSpPr>
          <p:cNvPr id="26" name="FB 40"/>
          <p:cNvSpPr txBox="1"/>
          <p:nvPr/>
        </p:nvSpPr>
        <p:spPr>
          <a:xfrm>
            <a:off x="3188970" y="24688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E6A77"/>
                </a:solidFill>
              </a:rPr>
              <a:t>+1</a:t>
            </a:r>
            <a:endParaRPr lang="en-US" sz="1100" dirty="0"/>
          </a:p>
        </p:txBody>
      </p:sp>
      <p:sp>
        <p:nvSpPr>
          <p:cNvPr id="27" name="Nó 50"/>
          <p:cNvSpPr/>
          <p:nvPr/>
        </p:nvSpPr>
        <p:spPr>
          <a:xfrm>
            <a:off x="3291840" y="3291840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28" name="Chave 50"/>
          <p:cNvSpPr txBox="1"/>
          <p:nvPr/>
        </p:nvSpPr>
        <p:spPr>
          <a:xfrm>
            <a:off x="32918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50</a:t>
            </a:r>
            <a:endParaRPr lang="en-US" sz="1200" dirty="0"/>
          </a:p>
        </p:txBody>
      </p:sp>
      <p:sp>
        <p:nvSpPr>
          <p:cNvPr id="29" name="FB 50"/>
          <p:cNvSpPr txBox="1"/>
          <p:nvPr/>
        </p:nvSpPr>
        <p:spPr>
          <a:xfrm>
            <a:off x="3691890" y="31089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E6A77"/>
                </a:solidFill>
              </a:rPr>
              <a:t>0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45720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</a:rPr>
              <a:t>Nó 20 fica com FB = −2 e o filho 40 pende para a esquerda (+1): caso Direita-Esquerda</a:t>
            </a:r>
            <a:endParaRPr lang="en-US" sz="1300" dirty="0"/>
          </a:p>
        </p:txBody>
      </p:sp>
      <p:sp>
        <p:nvSpPr>
          <p:cNvPr id="31" name="Seta"/>
          <p:cNvSpPr/>
          <p:nvPr/>
        </p:nvSpPr>
        <p:spPr>
          <a:xfrm>
            <a:off x="4023360" y="3154680"/>
            <a:ext cx="320040" cy="347472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2" name="Cartão"/>
          <p:cNvSpPr/>
          <p:nvPr/>
        </p:nvSpPr>
        <p:spPr>
          <a:xfrm>
            <a:off x="4389120" y="13716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1772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3A"/>
                </a:solidFill>
              </a:rPr>
              <a:t>2. Rotação à direita em 40</a:t>
            </a:r>
            <a:endParaRPr lang="en-US" sz="1600" dirty="0"/>
          </a:p>
        </p:txBody>
      </p:sp>
      <p:sp>
        <p:nvSpPr>
          <p:cNvPr id="34" name="Aresta 20-10"/>
          <p:cNvSpPr/>
          <p:nvPr/>
        </p:nvSpPr>
        <p:spPr>
          <a:xfrm flipH="1">
            <a:off x="4846320" y="2240280"/>
            <a:ext cx="502920" cy="64008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35" name="Aresta 20-30"/>
          <p:cNvSpPr/>
          <p:nvPr/>
        </p:nvSpPr>
        <p:spPr>
          <a:xfrm>
            <a:off x="5349240" y="2240280"/>
            <a:ext cx="1005840" cy="64008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36" name="Aresta 30-25"/>
          <p:cNvSpPr/>
          <p:nvPr/>
        </p:nvSpPr>
        <p:spPr>
          <a:xfrm flipH="1">
            <a:off x="5852160" y="2880360"/>
            <a:ext cx="502920" cy="64008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37" name="Aresta 30-40"/>
          <p:cNvSpPr/>
          <p:nvPr/>
        </p:nvSpPr>
        <p:spPr>
          <a:xfrm>
            <a:off x="6355080" y="2880360"/>
            <a:ext cx="502920" cy="64008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38" name="Aresta 40-50"/>
          <p:cNvSpPr/>
          <p:nvPr/>
        </p:nvSpPr>
        <p:spPr>
          <a:xfrm>
            <a:off x="6858000" y="3520440"/>
            <a:ext cx="502920" cy="64008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39" name="Nó 10"/>
          <p:cNvSpPr/>
          <p:nvPr/>
        </p:nvSpPr>
        <p:spPr>
          <a:xfrm>
            <a:off x="4617720" y="2651760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40" name="Chave 10"/>
          <p:cNvSpPr txBox="1"/>
          <p:nvPr/>
        </p:nvSpPr>
        <p:spPr>
          <a:xfrm>
            <a:off x="46177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41" name="FB 10"/>
          <p:cNvSpPr txBox="1"/>
          <p:nvPr/>
        </p:nvSpPr>
        <p:spPr>
          <a:xfrm>
            <a:off x="4217670" y="24688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A77"/>
                </a:solidFill>
              </a:rPr>
              <a:t>0</a:t>
            </a:r>
            <a:endParaRPr lang="en-US" sz="1100" dirty="0"/>
          </a:p>
        </p:txBody>
      </p:sp>
      <p:sp>
        <p:nvSpPr>
          <p:cNvPr id="42" name="Nó 20"/>
          <p:cNvSpPr/>
          <p:nvPr/>
        </p:nvSpPr>
        <p:spPr>
          <a:xfrm>
            <a:off x="5120640" y="2011680"/>
            <a:ext cx="457200" cy="457200"/>
          </a:xfrm>
          <a:prstGeom prst="ellipse">
            <a:avLst/>
          </a:prstGeom>
          <a:solidFill>
            <a:srgbClr val="0F7C7A"/>
          </a:solidFill>
          <a:ln w="44450">
            <a:solidFill>
              <a:srgbClr val="F28C28"/>
            </a:solidFill>
            <a:prstDash val="solid"/>
          </a:ln>
        </p:spPr>
      </p:sp>
      <p:sp>
        <p:nvSpPr>
          <p:cNvPr id="43" name="Chave 20"/>
          <p:cNvSpPr txBox="1"/>
          <p:nvPr/>
        </p:nvSpPr>
        <p:spPr>
          <a:xfrm>
            <a:off x="5120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</a:t>
            </a:r>
            <a:endParaRPr lang="en-US" sz="1200" dirty="0"/>
          </a:p>
        </p:txBody>
      </p:sp>
      <p:sp>
        <p:nvSpPr>
          <p:cNvPr id="44" name="FB 20"/>
          <p:cNvSpPr txBox="1"/>
          <p:nvPr/>
        </p:nvSpPr>
        <p:spPr>
          <a:xfrm>
            <a:off x="5520690" y="1828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C28"/>
                </a:solidFill>
              </a:rPr>
              <a:t>−2</a:t>
            </a:r>
            <a:endParaRPr lang="en-US" sz="1100" dirty="0"/>
          </a:p>
        </p:txBody>
      </p:sp>
      <p:sp>
        <p:nvSpPr>
          <p:cNvPr id="45" name="Nó 25"/>
          <p:cNvSpPr/>
          <p:nvPr/>
        </p:nvSpPr>
        <p:spPr>
          <a:xfrm>
            <a:off x="5623560" y="3291840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46" name="Chave 25"/>
          <p:cNvSpPr txBox="1"/>
          <p:nvPr/>
        </p:nvSpPr>
        <p:spPr>
          <a:xfrm>
            <a:off x="56235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25</a:t>
            </a:r>
            <a:endParaRPr lang="en-US" sz="1200" dirty="0"/>
          </a:p>
        </p:txBody>
      </p:sp>
      <p:sp>
        <p:nvSpPr>
          <p:cNvPr id="47" name="FB 25"/>
          <p:cNvSpPr txBox="1"/>
          <p:nvPr/>
        </p:nvSpPr>
        <p:spPr>
          <a:xfrm>
            <a:off x="5223510" y="31089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A77"/>
                </a:solidFill>
              </a:rPr>
              <a:t>0</a:t>
            </a:r>
            <a:endParaRPr lang="en-US" sz="1100" dirty="0"/>
          </a:p>
        </p:txBody>
      </p:sp>
      <p:sp>
        <p:nvSpPr>
          <p:cNvPr id="48" name="Nó 30"/>
          <p:cNvSpPr/>
          <p:nvPr/>
        </p:nvSpPr>
        <p:spPr>
          <a:xfrm>
            <a:off x="6126480" y="2651760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49" name="Chave 30"/>
          <p:cNvSpPr txBox="1"/>
          <p:nvPr/>
        </p:nvSpPr>
        <p:spPr>
          <a:xfrm>
            <a:off x="61264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</a:t>
            </a:r>
            <a:endParaRPr lang="en-US" sz="1200" dirty="0"/>
          </a:p>
        </p:txBody>
      </p:sp>
      <p:sp>
        <p:nvSpPr>
          <p:cNvPr id="50" name="FB 30"/>
          <p:cNvSpPr txBox="1"/>
          <p:nvPr/>
        </p:nvSpPr>
        <p:spPr>
          <a:xfrm>
            <a:off x="6526530" y="24688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E6A77"/>
                </a:solidFill>
              </a:rPr>
              <a:t>−1</a:t>
            </a:r>
            <a:endParaRPr lang="en-US" sz="1100" dirty="0"/>
          </a:p>
        </p:txBody>
      </p:sp>
      <p:sp>
        <p:nvSpPr>
          <p:cNvPr id="51" name="Nó 40"/>
          <p:cNvSpPr/>
          <p:nvPr/>
        </p:nvSpPr>
        <p:spPr>
          <a:xfrm>
            <a:off x="6629400" y="3291840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52" name="Chave 40"/>
          <p:cNvSpPr txBox="1"/>
          <p:nvPr/>
        </p:nvSpPr>
        <p:spPr>
          <a:xfrm>
            <a:off x="66294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40</a:t>
            </a:r>
            <a:endParaRPr lang="en-US" sz="1200" dirty="0"/>
          </a:p>
        </p:txBody>
      </p:sp>
      <p:sp>
        <p:nvSpPr>
          <p:cNvPr id="53" name="FB 40"/>
          <p:cNvSpPr txBox="1"/>
          <p:nvPr/>
        </p:nvSpPr>
        <p:spPr>
          <a:xfrm>
            <a:off x="7029450" y="31089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E6A77"/>
                </a:solidFill>
              </a:rPr>
              <a:t>−1</a:t>
            </a:r>
            <a:endParaRPr lang="en-US" sz="1100" dirty="0"/>
          </a:p>
        </p:txBody>
      </p:sp>
      <p:sp>
        <p:nvSpPr>
          <p:cNvPr id="54" name="Nó 50"/>
          <p:cNvSpPr/>
          <p:nvPr/>
        </p:nvSpPr>
        <p:spPr>
          <a:xfrm>
            <a:off x="7132320" y="3931920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55" name="Chave 50"/>
          <p:cNvSpPr txBox="1"/>
          <p:nvPr/>
        </p:nvSpPr>
        <p:spPr>
          <a:xfrm>
            <a:off x="71323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50</a:t>
            </a:r>
            <a:endParaRPr lang="en-US" sz="1200" dirty="0"/>
          </a:p>
        </p:txBody>
      </p:sp>
      <p:sp>
        <p:nvSpPr>
          <p:cNvPr id="56" name="FB 50"/>
          <p:cNvSpPr txBox="1"/>
          <p:nvPr/>
        </p:nvSpPr>
        <p:spPr>
          <a:xfrm>
            <a:off x="7532370" y="37490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E6A77"/>
                </a:solidFill>
              </a:rPr>
              <a:t>0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617720" y="45720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</a:rPr>
              <a:t>30 sobe no lugar de 40; agora o desequilíbrio está todo à direita</a:t>
            </a:r>
            <a:endParaRPr lang="en-US" sz="1300" dirty="0"/>
          </a:p>
        </p:txBody>
      </p:sp>
      <p:sp>
        <p:nvSpPr>
          <p:cNvPr id="58" name="Seta"/>
          <p:cNvSpPr/>
          <p:nvPr/>
        </p:nvSpPr>
        <p:spPr>
          <a:xfrm>
            <a:off x="7863840" y="3154680"/>
            <a:ext cx="320040" cy="347472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9" name="Cartão"/>
          <p:cNvSpPr/>
          <p:nvPr/>
        </p:nvSpPr>
        <p:spPr>
          <a:xfrm>
            <a:off x="8229600" y="13716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45820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3A"/>
                </a:solidFill>
              </a:rPr>
              <a:t>3. Rotação à esquerda em 20</a:t>
            </a:r>
            <a:endParaRPr lang="en-US" sz="1600" dirty="0"/>
          </a:p>
        </p:txBody>
      </p:sp>
      <p:sp>
        <p:nvSpPr>
          <p:cNvPr id="61" name="Aresta 20-10"/>
          <p:cNvSpPr/>
          <p:nvPr/>
        </p:nvSpPr>
        <p:spPr>
          <a:xfrm flipH="1">
            <a:off x="8686800" y="2953512"/>
            <a:ext cx="502920" cy="713232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62" name="Aresta 20-25"/>
          <p:cNvSpPr/>
          <p:nvPr/>
        </p:nvSpPr>
        <p:spPr>
          <a:xfrm>
            <a:off x="9189720" y="2953512"/>
            <a:ext cx="502920" cy="713232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63" name="Aresta 30-20"/>
          <p:cNvSpPr/>
          <p:nvPr/>
        </p:nvSpPr>
        <p:spPr>
          <a:xfrm flipH="1">
            <a:off x="9189720" y="2240280"/>
            <a:ext cx="1005840" cy="713232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64" name="Aresta 30-40"/>
          <p:cNvSpPr/>
          <p:nvPr/>
        </p:nvSpPr>
        <p:spPr>
          <a:xfrm>
            <a:off x="10195560" y="2240280"/>
            <a:ext cx="502920" cy="713232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65" name="Aresta 40-50"/>
          <p:cNvSpPr/>
          <p:nvPr/>
        </p:nvSpPr>
        <p:spPr>
          <a:xfrm>
            <a:off x="10698480" y="2953512"/>
            <a:ext cx="502920" cy="713232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66" name="Nó 10"/>
          <p:cNvSpPr/>
          <p:nvPr/>
        </p:nvSpPr>
        <p:spPr>
          <a:xfrm>
            <a:off x="8458200" y="3438144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67" name="Chave 10"/>
          <p:cNvSpPr txBox="1"/>
          <p:nvPr/>
        </p:nvSpPr>
        <p:spPr>
          <a:xfrm>
            <a:off x="845820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68" name="FB 10"/>
          <p:cNvSpPr txBox="1"/>
          <p:nvPr/>
        </p:nvSpPr>
        <p:spPr>
          <a:xfrm>
            <a:off x="8058150" y="32552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A77"/>
                </a:solidFill>
              </a:rPr>
              <a:t>0</a:t>
            </a:r>
            <a:endParaRPr lang="en-US" sz="1100" dirty="0"/>
          </a:p>
        </p:txBody>
      </p:sp>
      <p:sp>
        <p:nvSpPr>
          <p:cNvPr id="69" name="Nó 20"/>
          <p:cNvSpPr/>
          <p:nvPr/>
        </p:nvSpPr>
        <p:spPr>
          <a:xfrm>
            <a:off x="8961120" y="2724912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70" name="Chave 20"/>
          <p:cNvSpPr txBox="1"/>
          <p:nvPr/>
        </p:nvSpPr>
        <p:spPr>
          <a:xfrm>
            <a:off x="896112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</a:t>
            </a:r>
            <a:endParaRPr lang="en-US" sz="1200" dirty="0"/>
          </a:p>
        </p:txBody>
      </p:sp>
      <p:sp>
        <p:nvSpPr>
          <p:cNvPr id="71" name="FB 20"/>
          <p:cNvSpPr txBox="1"/>
          <p:nvPr/>
        </p:nvSpPr>
        <p:spPr>
          <a:xfrm>
            <a:off x="8561070" y="25420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A77"/>
                </a:solidFill>
              </a:rPr>
              <a:t>0</a:t>
            </a:r>
            <a:endParaRPr lang="en-US" sz="1100" dirty="0"/>
          </a:p>
        </p:txBody>
      </p:sp>
      <p:sp>
        <p:nvSpPr>
          <p:cNvPr id="72" name="Nó 25"/>
          <p:cNvSpPr/>
          <p:nvPr/>
        </p:nvSpPr>
        <p:spPr>
          <a:xfrm>
            <a:off x="9464040" y="3438144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73" name="Chave 25"/>
          <p:cNvSpPr txBox="1"/>
          <p:nvPr/>
        </p:nvSpPr>
        <p:spPr>
          <a:xfrm>
            <a:off x="946404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25</a:t>
            </a:r>
            <a:endParaRPr lang="en-US" sz="1200" dirty="0"/>
          </a:p>
        </p:txBody>
      </p:sp>
      <p:sp>
        <p:nvSpPr>
          <p:cNvPr id="74" name="FB 25"/>
          <p:cNvSpPr txBox="1"/>
          <p:nvPr/>
        </p:nvSpPr>
        <p:spPr>
          <a:xfrm>
            <a:off x="9864090" y="32552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E6A77"/>
                </a:solidFill>
              </a:rPr>
              <a:t>0</a:t>
            </a:r>
            <a:endParaRPr lang="en-US" sz="1100" dirty="0"/>
          </a:p>
        </p:txBody>
      </p:sp>
      <p:sp>
        <p:nvSpPr>
          <p:cNvPr id="75" name="Nó 30"/>
          <p:cNvSpPr/>
          <p:nvPr/>
        </p:nvSpPr>
        <p:spPr>
          <a:xfrm>
            <a:off x="9966960" y="2011680"/>
            <a:ext cx="457200" cy="457200"/>
          </a:xfrm>
          <a:prstGeom prst="ellipse">
            <a:avLst/>
          </a:prstGeom>
          <a:solidFill>
            <a:srgbClr val="0F7C7A"/>
          </a:solidFill>
          <a:ln w="44450">
            <a:solidFill>
              <a:srgbClr val="F28C28"/>
            </a:solidFill>
            <a:prstDash val="solid"/>
          </a:ln>
        </p:spPr>
      </p:sp>
      <p:sp>
        <p:nvSpPr>
          <p:cNvPr id="76" name="Chave 30"/>
          <p:cNvSpPr txBox="1"/>
          <p:nvPr/>
        </p:nvSpPr>
        <p:spPr>
          <a:xfrm>
            <a:off x="9966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</a:t>
            </a:r>
            <a:endParaRPr lang="en-US" sz="1200" dirty="0"/>
          </a:p>
        </p:txBody>
      </p:sp>
      <p:sp>
        <p:nvSpPr>
          <p:cNvPr id="77" name="FB 30"/>
          <p:cNvSpPr txBox="1"/>
          <p:nvPr/>
        </p:nvSpPr>
        <p:spPr>
          <a:xfrm>
            <a:off x="10367010" y="1828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E6A77"/>
                </a:solidFill>
              </a:rPr>
              <a:t>0</a:t>
            </a:r>
            <a:endParaRPr lang="en-US" sz="1100" dirty="0"/>
          </a:p>
        </p:txBody>
      </p:sp>
      <p:sp>
        <p:nvSpPr>
          <p:cNvPr id="78" name="Nó 40"/>
          <p:cNvSpPr/>
          <p:nvPr/>
        </p:nvSpPr>
        <p:spPr>
          <a:xfrm>
            <a:off x="10469880" y="2724912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79" name="Chave 40"/>
          <p:cNvSpPr txBox="1"/>
          <p:nvPr/>
        </p:nvSpPr>
        <p:spPr>
          <a:xfrm>
            <a:off x="104698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40</a:t>
            </a:r>
            <a:endParaRPr lang="en-US" sz="1200" dirty="0"/>
          </a:p>
        </p:txBody>
      </p:sp>
      <p:sp>
        <p:nvSpPr>
          <p:cNvPr id="80" name="FB 40"/>
          <p:cNvSpPr txBox="1"/>
          <p:nvPr/>
        </p:nvSpPr>
        <p:spPr>
          <a:xfrm>
            <a:off x="10869930" y="25420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E6A77"/>
                </a:solidFill>
              </a:rPr>
              <a:t>−1</a:t>
            </a:r>
            <a:endParaRPr lang="en-US" sz="1100" dirty="0"/>
          </a:p>
        </p:txBody>
      </p:sp>
      <p:sp>
        <p:nvSpPr>
          <p:cNvPr id="81" name="Nó 50"/>
          <p:cNvSpPr/>
          <p:nvPr/>
        </p:nvSpPr>
        <p:spPr>
          <a:xfrm>
            <a:off x="10972800" y="3438144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82" name="Chave 50"/>
          <p:cNvSpPr txBox="1"/>
          <p:nvPr/>
        </p:nvSpPr>
        <p:spPr>
          <a:xfrm>
            <a:off x="1097280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50</a:t>
            </a:r>
            <a:endParaRPr lang="en-US" sz="1200" dirty="0"/>
          </a:p>
        </p:txBody>
      </p:sp>
      <p:sp>
        <p:nvSpPr>
          <p:cNvPr id="83" name="FB 50"/>
          <p:cNvSpPr txBox="1"/>
          <p:nvPr/>
        </p:nvSpPr>
        <p:spPr>
          <a:xfrm>
            <a:off x="11372850" y="32552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E6A77"/>
                </a:solidFill>
              </a:rPr>
              <a:t>0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8458200" y="45720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</a:rPr>
              <a:t>30 vira a raiz, nenhum nó fica com FB = ±2 e a altura cai de 4 para 3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548640" y="571500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A77"/>
                </a:solidFill>
              </a:rPr>
              <a:t>Sequência executada no protótipo: 10, 20, 30, 40, 50, 25. Números ao lado dos nós = fator de balanceamento; contorno laranja = nó em correção.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ópico"/>
          <p:cNvSpPr/>
          <p:nvPr/>
        </p:nvSpPr>
        <p:spPr>
          <a:xfrm>
            <a:off x="457200" y="425196"/>
            <a:ext cx="566928" cy="56692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Número do tópico"/>
          <p:cNvSpPr txBox="1"/>
          <p:nvPr/>
        </p:nvSpPr>
        <p:spPr>
          <a:xfrm>
            <a:off x="457200" y="4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8872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Árvore Rubro-Negra: balanceamento por cores</a:t>
            </a:r>
            <a:endParaRPr lang="en-US" sz="3200" dirty="0"/>
          </a:p>
        </p:txBody>
      </p:sp>
      <p:sp>
        <p:nvSpPr>
          <p:cNvPr id="5" name="Marcador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9903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</a:rPr>
              <a:t>Todo nó é vermelho ou preto</a:t>
            </a:r>
            <a:endParaRPr lang="en-US" sz="1500" dirty="0"/>
          </a:p>
        </p:txBody>
      </p:sp>
      <p:sp>
        <p:nvSpPr>
          <p:cNvPr id="8" name="Marcador"/>
          <p:cNvSpPr/>
          <p:nvPr/>
        </p:nvSpPr>
        <p:spPr>
          <a:xfrm>
            <a:off x="548640" y="2130552"/>
            <a:ext cx="457200" cy="457200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11226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</a:rPr>
              <a:t>A raiz é preta</a:t>
            </a:r>
            <a:endParaRPr lang="en-US" sz="1500" dirty="0"/>
          </a:p>
        </p:txBody>
      </p:sp>
      <p:sp>
        <p:nvSpPr>
          <p:cNvPr id="11" name="Marcador"/>
          <p:cNvSpPr/>
          <p:nvPr/>
        </p:nvSpPr>
        <p:spPr>
          <a:xfrm>
            <a:off x="548640" y="2843784"/>
            <a:ext cx="457200" cy="457200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82549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</a:rPr>
              <a:t>Toda folha NIL é preta</a:t>
            </a:r>
            <a:endParaRPr lang="en-US" sz="1500" dirty="0"/>
          </a:p>
        </p:txBody>
      </p:sp>
      <p:sp>
        <p:nvSpPr>
          <p:cNvPr id="14" name="Marcador"/>
          <p:cNvSpPr/>
          <p:nvPr/>
        </p:nvSpPr>
        <p:spPr>
          <a:xfrm>
            <a:off x="548640" y="3557016"/>
            <a:ext cx="457200" cy="45720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538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</a:rPr>
              <a:t>Nó vermelho não tem filho vermelho</a:t>
            </a:r>
            <a:endParaRPr lang="en-US" sz="1500" dirty="0"/>
          </a:p>
        </p:txBody>
      </p:sp>
      <p:sp>
        <p:nvSpPr>
          <p:cNvPr id="17" name="Marcador"/>
          <p:cNvSpPr/>
          <p:nvPr/>
        </p:nvSpPr>
        <p:spPr>
          <a:xfrm>
            <a:off x="548640" y="4270248"/>
            <a:ext cx="457200" cy="457200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2519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</a:rPr>
              <a:t>Todo caminho até as folhas tem o mesmo número de nós pretos (altura negra)</a:t>
            </a:r>
            <a:endParaRPr lang="en-US" sz="1500" dirty="0"/>
          </a:p>
        </p:txBody>
      </p:sp>
      <p:sp>
        <p:nvSpPr>
          <p:cNvPr id="20" name="Cartão"/>
          <p:cNvSpPr/>
          <p:nvPr/>
        </p:nvSpPr>
        <p:spPr>
          <a:xfrm>
            <a:off x="548640" y="507492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18464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</a:rPr>
              <a:t>Consequência: </a:t>
            </a:r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</a:rPr>
              <a:t>h ≤ 2 · log₂(n + 1). O caminho mais longo tem no máximo o dobro do mais curto.</a:t>
            </a:r>
            <a:endParaRPr lang="en-US" sz="1500" dirty="0"/>
          </a:p>
        </p:txBody>
      </p:sp>
      <p:sp>
        <p:nvSpPr>
          <p:cNvPr id="22" name="Cartão"/>
          <p:cNvSpPr/>
          <p:nvPr/>
        </p:nvSpPr>
        <p:spPr>
          <a:xfrm>
            <a:off x="5989320" y="1371600"/>
            <a:ext cx="2697480" cy="4709160"/>
          </a:xfrm>
          <a:prstGeom prst="roundRect">
            <a:avLst>
              <a:gd name="adj" fmla="val 271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72200" y="15087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3A"/>
                </a:solidFill>
              </a:rPr>
              <a:t>Inserção (nó novo entra vermelho)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2148840"/>
            <a:ext cx="2423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</a:rPr>
              <a:t>Caso 1: tio vermelho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1F24"/>
                </a:solidFill>
              </a:rPr>
              <a:t>recolore pai, tio e avô; o problema sobe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</a:rPr>
              <a:t>Caso 2: triângulo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1F24"/>
                </a:solidFill>
              </a:rPr>
              <a:t>rotação no pai, que vira o caso 3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</a:rPr>
              <a:t>Caso 3: linha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1F24"/>
                </a:solidFill>
              </a:rPr>
              <a:t>recolore e rotaciona no avô; termina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5532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</a:rPr>
              <a:t>≤ 2 rotações</a:t>
            </a:r>
            <a:endParaRPr lang="en-US" sz="1400" dirty="0"/>
          </a:p>
        </p:txBody>
      </p:sp>
      <p:sp>
        <p:nvSpPr>
          <p:cNvPr id="26" name="Cartão"/>
          <p:cNvSpPr/>
          <p:nvPr/>
        </p:nvSpPr>
        <p:spPr>
          <a:xfrm>
            <a:off x="8961120" y="1371600"/>
            <a:ext cx="2697480" cy="4709160"/>
          </a:xfrm>
          <a:prstGeom prst="roundRect">
            <a:avLst>
              <a:gd name="adj" fmla="val 271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0" y="15087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3A"/>
                </a:solidFill>
              </a:rPr>
              <a:t>Remoção (saiu um nó preto)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0" y="2148840"/>
            <a:ext cx="2423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</a:rPr>
              <a:t>Caso 1: irmão vermelho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1F24"/>
                </a:solidFill>
              </a:rPr>
              <a:t>recolore e rotaciona no pai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</a:rPr>
              <a:t>Caso 2: sobrinhos pretos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1F24"/>
                </a:solidFill>
              </a:rPr>
              <a:t>irmão fica vermelho; sobe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</a:rPr>
              <a:t>Caso 3: sobrinho próximo vermelho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1F24"/>
                </a:solidFill>
              </a:rPr>
              <a:t>rotação no irmão, vira o caso 4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</a:rPr>
              <a:t>Caso 4: sobrinho distante vermelho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1F24"/>
                </a:solidFill>
              </a:rPr>
              <a:t>recolore e rotaciona; termina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5532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</a:rPr>
              <a:t>≤ 3 rotações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ópico"/>
          <p:cNvSpPr/>
          <p:nvPr/>
        </p:nvSpPr>
        <p:spPr>
          <a:xfrm>
            <a:off x="457200" y="425196"/>
            <a:ext cx="566928" cy="56692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Número do tópico"/>
          <p:cNvSpPr txBox="1"/>
          <p:nvPr/>
        </p:nvSpPr>
        <p:spPr>
          <a:xfrm>
            <a:off x="457200" y="4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8872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Rubro-Negra: recoloração e rotação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325880"/>
            <a:ext cx="11109960" cy="2286000"/>
          </a:xfrm>
          <a:prstGeom prst="roundRect">
            <a:avLst>
              <a:gd name="adj" fmla="val 32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904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</a:rPr>
              <a:t>Inserir 40  ·  caso 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</a:rPr>
              <a:t>40 e o pai 30 são vermelhos. O tio 10 também é vermelho: pai e tio ficam pretos, o avô fica vermelho e, por ser a raiz, volta a preto. Nenhuma rotação.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A77"/>
                </a:solidFill>
              </a:rPr>
              <a:t>antes</a:t>
            </a:r>
            <a:endParaRPr lang="en-US" sz="1200" dirty="0"/>
          </a:p>
        </p:txBody>
      </p:sp>
      <p:sp>
        <p:nvSpPr>
          <p:cNvPr id="9" name="Aresta 20-10"/>
          <p:cNvSpPr/>
          <p:nvPr/>
        </p:nvSpPr>
        <p:spPr>
          <a:xfrm flipH="1">
            <a:off x="5052060" y="1911096"/>
            <a:ext cx="502920" cy="50292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10" name="Aresta 20-30"/>
          <p:cNvSpPr/>
          <p:nvPr/>
        </p:nvSpPr>
        <p:spPr>
          <a:xfrm>
            <a:off x="5554980" y="1911096"/>
            <a:ext cx="502920" cy="50292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11" name="Aresta 30-40"/>
          <p:cNvSpPr/>
          <p:nvPr/>
        </p:nvSpPr>
        <p:spPr>
          <a:xfrm>
            <a:off x="6057900" y="2414016"/>
            <a:ext cx="502920" cy="50292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12" name="Nó 10"/>
          <p:cNvSpPr/>
          <p:nvPr/>
        </p:nvSpPr>
        <p:spPr>
          <a:xfrm>
            <a:off x="4850892" y="2212848"/>
            <a:ext cx="402336" cy="40233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Chave 10"/>
          <p:cNvSpPr txBox="1"/>
          <p:nvPr/>
        </p:nvSpPr>
        <p:spPr>
          <a:xfrm>
            <a:off x="4850892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14" name="Nó 20"/>
          <p:cNvSpPr/>
          <p:nvPr/>
        </p:nvSpPr>
        <p:spPr>
          <a:xfrm>
            <a:off x="5353812" y="1709928"/>
            <a:ext cx="402336" cy="402336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15" name="Chave 20"/>
          <p:cNvSpPr txBox="1"/>
          <p:nvPr/>
        </p:nvSpPr>
        <p:spPr>
          <a:xfrm>
            <a:off x="5353812" y="1709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</a:t>
            </a:r>
            <a:endParaRPr lang="en-US" sz="1200" dirty="0"/>
          </a:p>
        </p:txBody>
      </p:sp>
      <p:sp>
        <p:nvSpPr>
          <p:cNvPr id="16" name="Nó 30"/>
          <p:cNvSpPr/>
          <p:nvPr/>
        </p:nvSpPr>
        <p:spPr>
          <a:xfrm>
            <a:off x="5856732" y="2212848"/>
            <a:ext cx="402336" cy="40233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Chave 30"/>
          <p:cNvSpPr txBox="1"/>
          <p:nvPr/>
        </p:nvSpPr>
        <p:spPr>
          <a:xfrm>
            <a:off x="5856732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</a:t>
            </a:r>
            <a:endParaRPr lang="en-US" sz="1200" dirty="0"/>
          </a:p>
        </p:txBody>
      </p:sp>
      <p:sp>
        <p:nvSpPr>
          <p:cNvPr id="18" name="Nó 40"/>
          <p:cNvSpPr/>
          <p:nvPr/>
        </p:nvSpPr>
        <p:spPr>
          <a:xfrm>
            <a:off x="6359652" y="2715768"/>
            <a:ext cx="402336" cy="402336"/>
          </a:xfrm>
          <a:prstGeom prst="ellipse">
            <a:avLst/>
          </a:prstGeom>
          <a:solidFill>
            <a:srgbClr val="C62828"/>
          </a:solidFill>
          <a:ln w="44450">
            <a:solidFill>
              <a:srgbClr val="F28C28"/>
            </a:solidFill>
            <a:prstDash val="solid"/>
          </a:ln>
        </p:spPr>
      </p:sp>
      <p:sp>
        <p:nvSpPr>
          <p:cNvPr id="19" name="Chave 40"/>
          <p:cNvSpPr txBox="1"/>
          <p:nvPr/>
        </p:nvSpPr>
        <p:spPr>
          <a:xfrm>
            <a:off x="6359652" y="2715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40</a:t>
            </a:r>
            <a:endParaRPr lang="en-US" sz="1200" dirty="0"/>
          </a:p>
        </p:txBody>
      </p:sp>
      <p:sp>
        <p:nvSpPr>
          <p:cNvPr id="20" name="Seta"/>
          <p:cNvSpPr/>
          <p:nvPr/>
        </p:nvSpPr>
        <p:spPr>
          <a:xfrm>
            <a:off x="7589520" y="2377440"/>
            <a:ext cx="502920" cy="347472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66760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A77"/>
                </a:solidFill>
              </a:rPr>
              <a:t>depois</a:t>
            </a:r>
            <a:endParaRPr lang="en-US" sz="1200" dirty="0"/>
          </a:p>
        </p:txBody>
      </p:sp>
      <p:sp>
        <p:nvSpPr>
          <p:cNvPr id="22" name="Aresta 20-10"/>
          <p:cNvSpPr/>
          <p:nvPr/>
        </p:nvSpPr>
        <p:spPr>
          <a:xfrm flipH="1">
            <a:off x="9121140" y="1911096"/>
            <a:ext cx="502920" cy="54864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23" name="Aresta 20-30"/>
          <p:cNvSpPr/>
          <p:nvPr/>
        </p:nvSpPr>
        <p:spPr>
          <a:xfrm>
            <a:off x="9624060" y="1911096"/>
            <a:ext cx="502920" cy="54864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24" name="Aresta 30-40"/>
          <p:cNvSpPr/>
          <p:nvPr/>
        </p:nvSpPr>
        <p:spPr>
          <a:xfrm>
            <a:off x="10126980" y="2459736"/>
            <a:ext cx="502920" cy="54864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25" name="Nó 10"/>
          <p:cNvSpPr/>
          <p:nvPr/>
        </p:nvSpPr>
        <p:spPr>
          <a:xfrm>
            <a:off x="8919972" y="2258568"/>
            <a:ext cx="402336" cy="402336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26" name="Chave 10"/>
          <p:cNvSpPr txBox="1"/>
          <p:nvPr/>
        </p:nvSpPr>
        <p:spPr>
          <a:xfrm>
            <a:off x="8919972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27" name="Nó 20"/>
          <p:cNvSpPr/>
          <p:nvPr/>
        </p:nvSpPr>
        <p:spPr>
          <a:xfrm>
            <a:off x="9422892" y="1709928"/>
            <a:ext cx="402336" cy="402336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28" name="Chave 20"/>
          <p:cNvSpPr txBox="1"/>
          <p:nvPr/>
        </p:nvSpPr>
        <p:spPr>
          <a:xfrm>
            <a:off x="9422892" y="1709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</a:t>
            </a:r>
            <a:endParaRPr lang="en-US" sz="1200" dirty="0"/>
          </a:p>
        </p:txBody>
      </p:sp>
      <p:sp>
        <p:nvSpPr>
          <p:cNvPr id="29" name="Nó 30"/>
          <p:cNvSpPr/>
          <p:nvPr/>
        </p:nvSpPr>
        <p:spPr>
          <a:xfrm>
            <a:off x="9925812" y="2258568"/>
            <a:ext cx="402336" cy="402336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30" name="Chave 30"/>
          <p:cNvSpPr txBox="1"/>
          <p:nvPr/>
        </p:nvSpPr>
        <p:spPr>
          <a:xfrm>
            <a:off x="9925812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</a:t>
            </a:r>
            <a:endParaRPr lang="en-US" sz="1200" dirty="0"/>
          </a:p>
        </p:txBody>
      </p:sp>
      <p:sp>
        <p:nvSpPr>
          <p:cNvPr id="31" name="Nó 40"/>
          <p:cNvSpPr/>
          <p:nvPr/>
        </p:nvSpPr>
        <p:spPr>
          <a:xfrm>
            <a:off x="10428732" y="2807208"/>
            <a:ext cx="402336" cy="40233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2" name="Chave 40"/>
          <p:cNvSpPr txBox="1"/>
          <p:nvPr/>
        </p:nvSpPr>
        <p:spPr>
          <a:xfrm>
            <a:off x="10428732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40</a:t>
            </a:r>
            <a:endParaRPr lang="en-US" sz="1200" dirty="0"/>
          </a:p>
        </p:txBody>
      </p:sp>
      <p:sp>
        <p:nvSpPr>
          <p:cNvPr id="33" name="Cartão"/>
          <p:cNvSpPr/>
          <p:nvPr/>
        </p:nvSpPr>
        <p:spPr>
          <a:xfrm>
            <a:off x="548640" y="3794760"/>
            <a:ext cx="11109960" cy="2286000"/>
          </a:xfrm>
          <a:prstGeom prst="roundRect">
            <a:avLst>
              <a:gd name="adj" fmla="val 32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39593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</a:rPr>
              <a:t>Inserir 50  ·  caso 3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438912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</a:rPr>
              <a:t>50 e o pai 40 são vermelhos, o tio (NIL) é preto e 30-40-50 formam uma linha: 40 fica preto, 30 fica vermelho e há rotação à esquerda em 30.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297680" y="3904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A77"/>
                </a:solidFill>
              </a:rPr>
              <a:t>antes</a:t>
            </a:r>
            <a:endParaRPr lang="en-US" sz="1200" dirty="0"/>
          </a:p>
        </p:txBody>
      </p:sp>
      <p:sp>
        <p:nvSpPr>
          <p:cNvPr id="37" name="Aresta 20-10"/>
          <p:cNvSpPr/>
          <p:nvPr/>
        </p:nvSpPr>
        <p:spPr>
          <a:xfrm flipH="1">
            <a:off x="4800600" y="4379976"/>
            <a:ext cx="502920" cy="475488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38" name="Aresta 20-30"/>
          <p:cNvSpPr/>
          <p:nvPr/>
        </p:nvSpPr>
        <p:spPr>
          <a:xfrm>
            <a:off x="5303520" y="4379976"/>
            <a:ext cx="502920" cy="475488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39" name="Aresta 30-40"/>
          <p:cNvSpPr/>
          <p:nvPr/>
        </p:nvSpPr>
        <p:spPr>
          <a:xfrm>
            <a:off x="5806440" y="4855464"/>
            <a:ext cx="502920" cy="475488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40" name="Aresta 40-50"/>
          <p:cNvSpPr/>
          <p:nvPr/>
        </p:nvSpPr>
        <p:spPr>
          <a:xfrm>
            <a:off x="6309360" y="5330952"/>
            <a:ext cx="502920" cy="475488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41" name="Nó 10"/>
          <p:cNvSpPr/>
          <p:nvPr/>
        </p:nvSpPr>
        <p:spPr>
          <a:xfrm>
            <a:off x="4599432" y="4654296"/>
            <a:ext cx="402336" cy="402336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42" name="Chave 10"/>
          <p:cNvSpPr txBox="1"/>
          <p:nvPr/>
        </p:nvSpPr>
        <p:spPr>
          <a:xfrm>
            <a:off x="4599432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43" name="Nó 20"/>
          <p:cNvSpPr/>
          <p:nvPr/>
        </p:nvSpPr>
        <p:spPr>
          <a:xfrm>
            <a:off x="5102352" y="4178808"/>
            <a:ext cx="402336" cy="402336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44" name="Chave 20"/>
          <p:cNvSpPr txBox="1"/>
          <p:nvPr/>
        </p:nvSpPr>
        <p:spPr>
          <a:xfrm>
            <a:off x="5102352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</a:t>
            </a:r>
            <a:endParaRPr lang="en-US" sz="1200" dirty="0"/>
          </a:p>
        </p:txBody>
      </p:sp>
      <p:sp>
        <p:nvSpPr>
          <p:cNvPr id="45" name="Nó 30"/>
          <p:cNvSpPr/>
          <p:nvPr/>
        </p:nvSpPr>
        <p:spPr>
          <a:xfrm>
            <a:off x="5605272" y="4654296"/>
            <a:ext cx="402336" cy="402336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46" name="Chave 30"/>
          <p:cNvSpPr txBox="1"/>
          <p:nvPr/>
        </p:nvSpPr>
        <p:spPr>
          <a:xfrm>
            <a:off x="5605272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</a:t>
            </a:r>
            <a:endParaRPr lang="en-US" sz="1200" dirty="0"/>
          </a:p>
        </p:txBody>
      </p:sp>
      <p:sp>
        <p:nvSpPr>
          <p:cNvPr id="47" name="Nó 40"/>
          <p:cNvSpPr/>
          <p:nvPr/>
        </p:nvSpPr>
        <p:spPr>
          <a:xfrm>
            <a:off x="6108192" y="5129784"/>
            <a:ext cx="402336" cy="40233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8" name="Chave 40"/>
          <p:cNvSpPr txBox="1"/>
          <p:nvPr/>
        </p:nvSpPr>
        <p:spPr>
          <a:xfrm>
            <a:off x="6108192" y="5129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40</a:t>
            </a:r>
            <a:endParaRPr lang="en-US" sz="1200" dirty="0"/>
          </a:p>
        </p:txBody>
      </p:sp>
      <p:sp>
        <p:nvSpPr>
          <p:cNvPr id="49" name="Nó 50"/>
          <p:cNvSpPr/>
          <p:nvPr/>
        </p:nvSpPr>
        <p:spPr>
          <a:xfrm>
            <a:off x="6611112" y="5605272"/>
            <a:ext cx="402336" cy="402336"/>
          </a:xfrm>
          <a:prstGeom prst="ellipse">
            <a:avLst/>
          </a:prstGeom>
          <a:solidFill>
            <a:srgbClr val="C62828"/>
          </a:solidFill>
          <a:ln w="44450">
            <a:solidFill>
              <a:srgbClr val="F28C28"/>
            </a:solidFill>
            <a:prstDash val="solid"/>
          </a:ln>
        </p:spPr>
      </p:sp>
      <p:sp>
        <p:nvSpPr>
          <p:cNvPr id="50" name="Chave 50"/>
          <p:cNvSpPr txBox="1"/>
          <p:nvPr/>
        </p:nvSpPr>
        <p:spPr>
          <a:xfrm>
            <a:off x="6611112" y="5605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50</a:t>
            </a:r>
            <a:endParaRPr lang="en-US" sz="1200" dirty="0"/>
          </a:p>
        </p:txBody>
      </p:sp>
      <p:sp>
        <p:nvSpPr>
          <p:cNvPr id="51" name="Seta"/>
          <p:cNvSpPr/>
          <p:nvPr/>
        </p:nvSpPr>
        <p:spPr>
          <a:xfrm>
            <a:off x="7589520" y="4846320"/>
            <a:ext cx="502920" cy="347472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366760" y="3904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A77"/>
                </a:solidFill>
              </a:rPr>
              <a:t>depois</a:t>
            </a:r>
            <a:endParaRPr lang="en-US" sz="1200" dirty="0"/>
          </a:p>
        </p:txBody>
      </p:sp>
      <p:sp>
        <p:nvSpPr>
          <p:cNvPr id="53" name="Aresta 20-10"/>
          <p:cNvSpPr/>
          <p:nvPr/>
        </p:nvSpPr>
        <p:spPr>
          <a:xfrm flipH="1">
            <a:off x="8869680" y="4379976"/>
            <a:ext cx="502920" cy="54864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54" name="Aresta 20-40"/>
          <p:cNvSpPr/>
          <p:nvPr/>
        </p:nvSpPr>
        <p:spPr>
          <a:xfrm>
            <a:off x="9372600" y="4379976"/>
            <a:ext cx="1005840" cy="54864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55" name="Aresta 40-30"/>
          <p:cNvSpPr/>
          <p:nvPr/>
        </p:nvSpPr>
        <p:spPr>
          <a:xfrm flipH="1">
            <a:off x="9875520" y="4928616"/>
            <a:ext cx="502920" cy="54864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56" name="Aresta 40-50"/>
          <p:cNvSpPr/>
          <p:nvPr/>
        </p:nvSpPr>
        <p:spPr>
          <a:xfrm>
            <a:off x="10378440" y="4928616"/>
            <a:ext cx="502920" cy="54864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57" name="Nó 10"/>
          <p:cNvSpPr/>
          <p:nvPr/>
        </p:nvSpPr>
        <p:spPr>
          <a:xfrm>
            <a:off x="8668512" y="4727448"/>
            <a:ext cx="402336" cy="402336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58" name="Chave 10"/>
          <p:cNvSpPr txBox="1"/>
          <p:nvPr/>
        </p:nvSpPr>
        <p:spPr>
          <a:xfrm>
            <a:off x="8668512" y="4727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59" name="Nó 20"/>
          <p:cNvSpPr/>
          <p:nvPr/>
        </p:nvSpPr>
        <p:spPr>
          <a:xfrm>
            <a:off x="9171432" y="4178808"/>
            <a:ext cx="402336" cy="402336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60" name="Chave 20"/>
          <p:cNvSpPr txBox="1"/>
          <p:nvPr/>
        </p:nvSpPr>
        <p:spPr>
          <a:xfrm>
            <a:off x="9171432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</a:t>
            </a:r>
            <a:endParaRPr lang="en-US" sz="1200" dirty="0"/>
          </a:p>
        </p:txBody>
      </p:sp>
      <p:sp>
        <p:nvSpPr>
          <p:cNvPr id="61" name="Nó 30"/>
          <p:cNvSpPr/>
          <p:nvPr/>
        </p:nvSpPr>
        <p:spPr>
          <a:xfrm>
            <a:off x="9674352" y="5276088"/>
            <a:ext cx="402336" cy="40233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2" name="Chave 30"/>
          <p:cNvSpPr txBox="1"/>
          <p:nvPr/>
        </p:nvSpPr>
        <p:spPr>
          <a:xfrm>
            <a:off x="9674352" y="5276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</a:t>
            </a:r>
            <a:endParaRPr lang="en-US" sz="1200" dirty="0"/>
          </a:p>
        </p:txBody>
      </p:sp>
      <p:sp>
        <p:nvSpPr>
          <p:cNvPr id="63" name="Nó 40"/>
          <p:cNvSpPr/>
          <p:nvPr/>
        </p:nvSpPr>
        <p:spPr>
          <a:xfrm>
            <a:off x="10177272" y="4727448"/>
            <a:ext cx="402336" cy="402336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64" name="Chave 40"/>
          <p:cNvSpPr txBox="1"/>
          <p:nvPr/>
        </p:nvSpPr>
        <p:spPr>
          <a:xfrm>
            <a:off x="10177272" y="4727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40</a:t>
            </a:r>
            <a:endParaRPr lang="en-US" sz="1200" dirty="0"/>
          </a:p>
        </p:txBody>
      </p:sp>
      <p:sp>
        <p:nvSpPr>
          <p:cNvPr id="65" name="Nó 50"/>
          <p:cNvSpPr/>
          <p:nvPr/>
        </p:nvSpPr>
        <p:spPr>
          <a:xfrm>
            <a:off x="10680192" y="5276088"/>
            <a:ext cx="402336" cy="40233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6" name="Chave 50"/>
          <p:cNvSpPr txBox="1"/>
          <p:nvPr/>
        </p:nvSpPr>
        <p:spPr>
          <a:xfrm>
            <a:off x="10680192" y="5276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ópico"/>
          <p:cNvSpPr/>
          <p:nvPr/>
        </p:nvSpPr>
        <p:spPr>
          <a:xfrm>
            <a:off x="457200" y="425196"/>
            <a:ext cx="566928" cy="56692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Número do tópico"/>
          <p:cNvSpPr txBox="1"/>
          <p:nvPr/>
        </p:nvSpPr>
        <p:spPr>
          <a:xfrm>
            <a:off x="457200" y="4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8872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Demonstração: Árvore AVL (modo detalhado)</a:t>
            </a:r>
            <a:endParaRPr lang="en-US" sz="3200" dirty="0"/>
          </a:p>
        </p:txBody>
      </p:sp>
      <p:sp>
        <p:nvSpPr>
          <p:cNvPr id="5" name="Terminal"/>
          <p:cNvSpPr/>
          <p:nvPr/>
        </p:nvSpPr>
        <p:spPr>
          <a:xfrm>
            <a:off x="548640" y="1325880"/>
            <a:ext cx="7543800" cy="4846320"/>
          </a:xfrm>
          <a:prstGeom prst="roundRect">
            <a:avLst>
              <a:gd name="adj" fmla="val 1132"/>
            </a:avLst>
          </a:prstGeom>
          <a:solidFill>
            <a:srgbClr val="11161C"/>
          </a:solidFill>
          <a:ln w="12700">
            <a:solidFill>
              <a:srgbClr val="11161C"/>
            </a:solidFill>
            <a:prstDash val="solid"/>
          </a:ln>
        </p:spPr>
      </p:sp>
      <p:sp>
        <p:nvSpPr>
          <p:cNvPr id="6" name="Título do terminal"/>
          <p:cNvSpPr txBox="1"/>
          <p:nvPr/>
        </p:nvSpPr>
        <p:spPr>
          <a:xfrm>
            <a:off x="731520" y="1417320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B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-jar arvores-balanceadas.jar --avl</a:t>
            </a:r>
            <a:endParaRPr lang="en-US" sz="1100" dirty="0"/>
          </a:p>
        </p:txBody>
      </p:sp>
      <p:sp>
        <p:nvSpPr>
          <p:cNvPr id="7" name="Saída do programa"/>
          <p:cNvSpPr txBox="1"/>
          <p:nvPr/>
        </p:nvSpPr>
        <p:spPr>
          <a:xfrm>
            <a:off x="731520" y="1737360"/>
            <a:ext cx="717804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Opção: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ID(s) a inserir: 10 20 30 40 50 25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8B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30 inserido.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C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Nó 10 com FB=-2: caso Direita-Direita (rotação simples à esquerda)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C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  rotação à esquerda em 10: 20 sobe e vira raiz da subárvore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8B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25 inserido.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C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Nó 20 com FB=-2 e filho direito 40 com FB=+1: caso Direita-Esquerda (rotação dupla)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Opção: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ID(s) a inserir: 30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30 já existe: inserção ignorada (IDs de encomenda são únicos).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Opção: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ID(s) a buscar: 25 99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25 encontrado (filhos: 0) após 3 comparação(ões).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99 não encontrado (3 comparação(ões)).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Opção: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ID(s) a remover: 99</a:t>
            </a:r>
            <a:pPr indent="0" marL="0">
              <a:buNone/>
            </a:pPr>
            <a:r>
              <a:rPr lang="en-US" sz="105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← inexistente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99 não existe: nada foi removido.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ID(s) a remover: 10</a:t>
            </a:r>
            <a:pPr indent="0" marL="0">
              <a:buNone/>
            </a:pPr>
            <a:r>
              <a:rPr lang="en-US" sz="105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← folha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ID(s) a remover: 40</a:t>
            </a:r>
            <a:pPr indent="0" marL="0">
              <a:buNone/>
            </a:pPr>
            <a:r>
              <a:rPr lang="en-US" sz="105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← um filho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ID(s) a remover: 30</a:t>
            </a:r>
            <a:pPr indent="0" marL="0">
              <a:buNone/>
            </a:pPr>
            <a:r>
              <a:rPr lang="en-US" sz="105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← dois filhos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C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Nó 30 tem dois filhos: será substituído pelo sucessor 50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C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Nó 50 com FB=+2 e filho esquerdo 20 com FB=-1: caso Esquerda-Direita (rotação dupla)</a:t>
            </a:r>
            <a:endParaRPr lang="en-US" sz="1050" dirty="0"/>
          </a:p>
        </p:txBody>
      </p:sp>
      <p:sp>
        <p:nvSpPr>
          <p:cNvPr id="8" name="Terminal"/>
          <p:cNvSpPr/>
          <p:nvPr/>
        </p:nvSpPr>
        <p:spPr>
          <a:xfrm>
            <a:off x="8321040" y="1325880"/>
            <a:ext cx="3337560" cy="2651760"/>
          </a:xfrm>
          <a:prstGeom prst="roundRect">
            <a:avLst>
              <a:gd name="adj" fmla="val 2069"/>
            </a:avLst>
          </a:prstGeom>
          <a:solidFill>
            <a:srgbClr val="11161C"/>
          </a:solidFill>
          <a:ln w="12700">
            <a:solidFill>
              <a:srgbClr val="11161C"/>
            </a:solidFill>
            <a:prstDash val="solid"/>
          </a:ln>
        </p:spPr>
      </p:sp>
      <p:sp>
        <p:nvSpPr>
          <p:cNvPr id="9" name="Título do terminal"/>
          <p:cNvSpPr txBox="1"/>
          <p:nvPr/>
        </p:nvSpPr>
        <p:spPr>
          <a:xfrm>
            <a:off x="8503920" y="1417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B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visualização após as inserções</a:t>
            </a:r>
            <a:endParaRPr lang="en-US" sz="1100" dirty="0"/>
          </a:p>
        </p:txBody>
      </p:sp>
      <p:sp>
        <p:nvSpPr>
          <p:cNvPr id="10" name="Saída do programa"/>
          <p:cNvSpPr txBox="1"/>
          <p:nvPr/>
        </p:nvSpPr>
        <p:spPr>
          <a:xfrm>
            <a:off x="8503920" y="173736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/-- 50 (fb=0)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/-- 40 (fb=-1)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30 (fb=0)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 /-- 25 (fb=0)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\-- 20 (fb=0)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\-- 10 (fb=0)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Percurso em ordem (6 IDs):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10, 20, 25, 30, 40, 50</a:t>
            </a:r>
            <a:endParaRPr lang="en-US" sz="1000" dirty="0"/>
          </a:p>
        </p:txBody>
      </p:sp>
      <p:sp>
        <p:nvSpPr>
          <p:cNvPr id="11" name="Terminal"/>
          <p:cNvSpPr/>
          <p:nvPr/>
        </p:nvSpPr>
        <p:spPr>
          <a:xfrm>
            <a:off x="8321040" y="4160520"/>
            <a:ext cx="3337560" cy="2011680"/>
          </a:xfrm>
          <a:prstGeom prst="roundRect">
            <a:avLst>
              <a:gd name="adj" fmla="val 2727"/>
            </a:avLst>
          </a:prstGeom>
          <a:solidFill>
            <a:srgbClr val="11161C"/>
          </a:solidFill>
          <a:ln w="12700">
            <a:solidFill>
              <a:srgbClr val="11161C"/>
            </a:solidFill>
            <a:prstDash val="solid"/>
          </a:ln>
        </p:spPr>
      </p:sp>
      <p:sp>
        <p:nvSpPr>
          <p:cNvPr id="12" name="Título do terminal"/>
          <p:cNvSpPr txBox="1"/>
          <p:nvPr/>
        </p:nvSpPr>
        <p:spPr>
          <a:xfrm>
            <a:off x="8503920" y="42519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B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estatísticas ao final</a:t>
            </a:r>
            <a:endParaRPr lang="en-US" sz="1100" dirty="0"/>
          </a:p>
        </p:txBody>
      </p:sp>
      <p:sp>
        <p:nvSpPr>
          <p:cNvPr id="13" name="Saída do programa"/>
          <p:cNvSpPr txBox="1"/>
          <p:nvPr/>
        </p:nvSpPr>
        <p:spPr>
          <a:xfrm>
            <a:off x="8503920" y="457200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Opção: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Altura ...............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Rotações .............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(esq.: 4, dir.: 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Propriedades ......... OK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ópico"/>
          <p:cNvSpPr/>
          <p:nvPr/>
        </p:nvSpPr>
        <p:spPr>
          <a:xfrm>
            <a:off x="457200" y="425196"/>
            <a:ext cx="566928" cy="56692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Número do tópico"/>
          <p:cNvSpPr txBox="1"/>
          <p:nvPr/>
        </p:nvSpPr>
        <p:spPr>
          <a:xfrm>
            <a:off x="457200" y="4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8872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Demonstração: Rubro-Negra (mesma sequência)</a:t>
            </a:r>
            <a:endParaRPr lang="en-US" sz="3200" dirty="0"/>
          </a:p>
        </p:txBody>
      </p:sp>
      <p:sp>
        <p:nvSpPr>
          <p:cNvPr id="5" name="Terminal"/>
          <p:cNvSpPr/>
          <p:nvPr/>
        </p:nvSpPr>
        <p:spPr>
          <a:xfrm>
            <a:off x="548640" y="1325880"/>
            <a:ext cx="7543800" cy="4846320"/>
          </a:xfrm>
          <a:prstGeom prst="roundRect">
            <a:avLst>
              <a:gd name="adj" fmla="val 1132"/>
            </a:avLst>
          </a:prstGeom>
          <a:solidFill>
            <a:srgbClr val="11161C"/>
          </a:solidFill>
          <a:ln w="12700">
            <a:solidFill>
              <a:srgbClr val="11161C"/>
            </a:solidFill>
            <a:prstDash val="solid"/>
          </a:ln>
        </p:spPr>
      </p:sp>
      <p:sp>
        <p:nvSpPr>
          <p:cNvPr id="6" name="Título do terminal"/>
          <p:cNvSpPr txBox="1"/>
          <p:nvPr/>
        </p:nvSpPr>
        <p:spPr>
          <a:xfrm>
            <a:off x="731520" y="1417320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B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-jar arvores-balanceadas.jar --rn</a:t>
            </a:r>
            <a:endParaRPr lang="en-US" sz="1100" dirty="0"/>
          </a:p>
        </p:txBody>
      </p:sp>
      <p:sp>
        <p:nvSpPr>
          <p:cNvPr id="7" name="Saída do programa"/>
          <p:cNvSpPr txBox="1"/>
          <p:nvPr/>
        </p:nvSpPr>
        <p:spPr>
          <a:xfrm>
            <a:off x="731520" y="1737360"/>
            <a:ext cx="717804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Opção: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ID(s) a inserir: 10 20 30 40 50 25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8B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40 inserido.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C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Inserção caso 1 (tio 10 vermelho): pai 30 e tio ficam pretos, avô 20 fica vermelho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C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Raiz 20 recolorida para preto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50 inserido.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C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Inserção caso 3 (tio preto, linha): pai 40 fica preto, avô 30 fica vermelho, 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C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  rotação à esquerda em 30: 40 sobe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8B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Opção: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ID(s) a buscar: 25 99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25 encontrado (filhos: 0, cor: vermelho) após 4 comparação(ões).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99 não encontrado (3 comparação(ões)).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Opção: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ID(s) a remover: 10</a:t>
            </a:r>
            <a:pPr indent="0" marL="0">
              <a:buNone/>
            </a:pPr>
            <a:r>
              <a:rPr lang="en-US" sz="105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← folha preta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C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Remoção caso 1 (irmão 40 vermelho): recolorir e rotacionar no pai 20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C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Remoção caso 3 (sobrinho próximo 25 vermelho): recolorir e rotacionar no irmão 30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C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Remoção caso 4 (sobrinho distante 30 vermelho): recolorir e rotacionar no pai 20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ID(s) a remover: 40</a:t>
            </a:r>
            <a:pPr indent="0" marL="0">
              <a:buNone/>
            </a:pPr>
            <a:r>
              <a:rPr lang="en-US" sz="105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← dois filhos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C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Nó 40 tem dois filhos: será substituído pelo sucessor 50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C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Remoção caso 2 (irmão 30 preto, sobrinhos pretos): irmão fica vermelho, sobe para 50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C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Nó 50 (vermelho) recolorido para preto, repondo o preto removido do caminho</a:t>
            </a:r>
            <a:endParaRPr lang="en-US" sz="1050" dirty="0"/>
          </a:p>
        </p:txBody>
      </p:sp>
      <p:sp>
        <p:nvSpPr>
          <p:cNvPr id="8" name="Terminal"/>
          <p:cNvSpPr/>
          <p:nvPr/>
        </p:nvSpPr>
        <p:spPr>
          <a:xfrm>
            <a:off x="8321040" y="1325880"/>
            <a:ext cx="3337560" cy="2651760"/>
          </a:xfrm>
          <a:prstGeom prst="roundRect">
            <a:avLst>
              <a:gd name="adj" fmla="val 2069"/>
            </a:avLst>
          </a:prstGeom>
          <a:solidFill>
            <a:srgbClr val="11161C"/>
          </a:solidFill>
          <a:ln w="12700">
            <a:solidFill>
              <a:srgbClr val="11161C"/>
            </a:solidFill>
            <a:prstDash val="solid"/>
          </a:ln>
        </p:spPr>
      </p:sp>
      <p:sp>
        <p:nvSpPr>
          <p:cNvPr id="9" name="Título do terminal"/>
          <p:cNvSpPr txBox="1"/>
          <p:nvPr/>
        </p:nvSpPr>
        <p:spPr>
          <a:xfrm>
            <a:off x="8503920" y="1417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B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visualização após as inserções</a:t>
            </a:r>
            <a:endParaRPr lang="en-US" sz="1100" dirty="0"/>
          </a:p>
        </p:txBody>
      </p:sp>
      <p:sp>
        <p:nvSpPr>
          <p:cNvPr id="10" name="Saída do programa"/>
          <p:cNvSpPr txBox="1"/>
          <p:nvPr/>
        </p:nvSpPr>
        <p:spPr>
          <a:xfrm>
            <a:off x="8503920" y="173736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/-- 50 [P]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7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/-- 40 [V]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 \-- 30 [P]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7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     \-- 25 [V]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20 [P]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\-- 10 [P]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[P] = preto, [V] = vermelho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Altura negra = 2</a:t>
            </a:r>
            <a:endParaRPr lang="en-US" sz="1000" dirty="0"/>
          </a:p>
        </p:txBody>
      </p:sp>
      <p:sp>
        <p:nvSpPr>
          <p:cNvPr id="11" name="Terminal"/>
          <p:cNvSpPr/>
          <p:nvPr/>
        </p:nvSpPr>
        <p:spPr>
          <a:xfrm>
            <a:off x="8321040" y="4160520"/>
            <a:ext cx="3337560" cy="2011680"/>
          </a:xfrm>
          <a:prstGeom prst="roundRect">
            <a:avLst>
              <a:gd name="adj" fmla="val 2727"/>
            </a:avLst>
          </a:prstGeom>
          <a:solidFill>
            <a:srgbClr val="11161C"/>
          </a:solidFill>
          <a:ln w="12700">
            <a:solidFill>
              <a:srgbClr val="11161C"/>
            </a:solidFill>
            <a:prstDash val="solid"/>
          </a:ln>
        </p:spPr>
      </p:sp>
      <p:sp>
        <p:nvSpPr>
          <p:cNvPr id="12" name="Título do terminal"/>
          <p:cNvSpPr txBox="1"/>
          <p:nvPr/>
        </p:nvSpPr>
        <p:spPr>
          <a:xfrm>
            <a:off x="8503920" y="42519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B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estatísticas ao final</a:t>
            </a:r>
            <a:endParaRPr lang="en-US" sz="1100" dirty="0"/>
          </a:p>
        </p:txBody>
      </p:sp>
      <p:sp>
        <p:nvSpPr>
          <p:cNvPr id="13" name="Saída do programa"/>
          <p:cNvSpPr txBox="1"/>
          <p:nvPr/>
        </p:nvSpPr>
        <p:spPr>
          <a:xfrm>
            <a:off x="8503920" y="457200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Opção: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Altura ...............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Rotações .............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Recolorações ......... 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D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Propriedades ......... OK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ópico"/>
          <p:cNvSpPr/>
          <p:nvPr/>
        </p:nvSpPr>
        <p:spPr>
          <a:xfrm>
            <a:off x="457200" y="425196"/>
            <a:ext cx="566928" cy="56692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Número do tópico"/>
          <p:cNvSpPr txBox="1"/>
          <p:nvPr/>
        </p:nvSpPr>
        <p:spPr>
          <a:xfrm>
            <a:off x="457200" y="4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8872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Testes: 37 de 37 aprovados</a:t>
            </a:r>
            <a:endParaRPr lang="en-US" sz="3200" dirty="0"/>
          </a:p>
        </p:txBody>
      </p:sp>
      <p:graphicFrame>
        <p:nvGraphicFramePr>
          <p:cNvPr id="13" name="Tabela de test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914400"/>
                <a:gridCol w="10972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Cenário (mesmos dados nas duas árvores)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AVL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Rubro-Negra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Inserção crescente, decrescente e aleatória (2.000 IDs)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Valores repetidos rejeitados sem alterar a estrutura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Busca de IDs existentes e inexistentes (inclusive extremos)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Remoção de folha, de nó com 1 filho e com 2 filhos (inclusive raiz)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Remoção de inexistente e do mesmo ID duas vezes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Árvore vazia e árvore com um único elemento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Esvaziar a árvore em 3 ordens e por grau dos nós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Rotação simples (1, 2, 3) e dupla (30, 10, 20) com contagem exata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Altura dentro do limite teórico com 100.000 IDs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</a:rPr>
                        <a:t>30.000 operações aleatórias comparadas com java.util.TreeSet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7"/>
                    </a:solidFill>
                  </a:tcPr>
                </a:tc>
              </a:tr>
            </a:tbl>
          </a:graphicData>
        </a:graphic>
      </p:graphicFrame>
      <p:sp>
        <p:nvSpPr>
          <p:cNvPr id="6" name="Cartão"/>
          <p:cNvSpPr/>
          <p:nvPr/>
        </p:nvSpPr>
        <p:spPr>
          <a:xfrm>
            <a:off x="8549640" y="1371600"/>
            <a:ext cx="3108960" cy="4709160"/>
          </a:xfrm>
          <a:prstGeom prst="roundRect">
            <a:avLst>
              <a:gd name="adj" fmla="val 2353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Número em destaque"/>
          <p:cNvSpPr txBox="1"/>
          <p:nvPr/>
        </p:nvSpPr>
        <p:spPr>
          <a:xfrm>
            <a:off x="8778240" y="1508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37/37</a:t>
            </a:r>
            <a:endParaRPr lang="en-US" sz="4000" dirty="0"/>
          </a:p>
        </p:txBody>
      </p:sp>
      <p:sp>
        <p:nvSpPr>
          <p:cNvPr id="8" name="Rótulo do número"/>
          <p:cNvSpPr txBox="1"/>
          <p:nvPr/>
        </p:nvSpPr>
        <p:spPr>
          <a:xfrm>
            <a:off x="8778240" y="2276856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A77"/>
                </a:solidFill>
              </a:rPr>
              <a:t>testes aprovados (18 cenários × 2 árvores + cores da Rubro-Negra)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324612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4"/>
                </a:solidFill>
              </a:rPr>
              <a:t>Propriedades conferidas após cada inserção e remoção: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</a:rPr>
              <a:t>ordem de busca, alturas e |FB| ≤ 1 (AVL); raiz preta, sem vermelho-vermelho e altura negra igual (Rubro-Negra)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5440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-jar … --testes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ópico"/>
          <p:cNvSpPr/>
          <p:nvPr/>
        </p:nvSpPr>
        <p:spPr>
          <a:xfrm>
            <a:off x="457200" y="425196"/>
            <a:ext cx="566928" cy="56692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Número do tópico"/>
          <p:cNvSpPr txBox="1"/>
          <p:nvPr/>
        </p:nvSpPr>
        <p:spPr>
          <a:xfrm>
            <a:off x="457200" y="4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8872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Análise: altura final com os mesmos dados</a:t>
            </a:r>
            <a:endParaRPr lang="en-US" sz="3200" dirty="0"/>
          </a:p>
        </p:txBody>
      </p:sp>
      <p:graphicFrame>
        <p:nvGraphicFramePr>
          <p:cNvPr id="5" name="Gráfico de alturas" descr=""/>
          <p:cNvGraphicFramePr/>
          <p:nvPr/>
        </p:nvGraphicFramePr>
        <p:xfrm>
          <a:off x="548640" y="1325880"/>
          <a:ext cx="749808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tão"/>
          <p:cNvSpPr/>
          <p:nvPr/>
        </p:nvSpPr>
        <p:spPr>
          <a:xfrm>
            <a:off x="8321040" y="1325880"/>
            <a:ext cx="3337560" cy="4800600"/>
          </a:xfrm>
          <a:prstGeom prst="roundRect">
            <a:avLst>
              <a:gd name="adj" fmla="val 219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Número em destaque"/>
          <p:cNvSpPr txBox="1"/>
          <p:nvPr/>
        </p:nvSpPr>
        <p:spPr>
          <a:xfrm>
            <a:off x="8549640" y="1417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× 31</a:t>
            </a:r>
            <a:endParaRPr lang="en-US" sz="3000" dirty="0"/>
          </a:p>
        </p:txBody>
      </p:sp>
      <p:sp>
        <p:nvSpPr>
          <p:cNvPr id="8" name="Rótulo do número"/>
          <p:cNvSpPr txBox="1"/>
          <p:nvPr/>
        </p:nvSpPr>
        <p:spPr>
          <a:xfrm>
            <a:off x="8549640" y="200253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A77"/>
                </a:solidFill>
              </a:rPr>
              <a:t>AVL x Rubro-Negra com 100 mil IDs sequenciais. A mínima possível é 17</a:t>
            </a:r>
            <a:endParaRPr lang="en-US" sz="1300" dirty="0"/>
          </a:p>
        </p:txBody>
      </p:sp>
      <p:sp>
        <p:nvSpPr>
          <p:cNvPr id="9" name="Número em destaque"/>
          <p:cNvSpPr txBox="1"/>
          <p:nvPr/>
        </p:nvSpPr>
        <p:spPr>
          <a:xfrm>
            <a:off x="8549640" y="2788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0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× 20</a:t>
            </a:r>
            <a:endParaRPr lang="en-US" sz="3000" dirty="0"/>
          </a:p>
        </p:txBody>
      </p:sp>
      <p:sp>
        <p:nvSpPr>
          <p:cNvPr id="10" name="Rótulo do número"/>
          <p:cNvSpPr txBox="1"/>
          <p:nvPr/>
        </p:nvSpPr>
        <p:spPr>
          <a:xfrm>
            <a:off x="8549640" y="33741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A77"/>
                </a:solidFill>
              </a:rPr>
              <a:t>com 100 mil IDs aleatórios: empate</a:t>
            </a:r>
            <a:endParaRPr lang="en-US" sz="1300" dirty="0"/>
          </a:p>
        </p:txBody>
      </p:sp>
      <p:sp>
        <p:nvSpPr>
          <p:cNvPr id="11" name="Número em destaque"/>
          <p:cNvSpPr txBox="1"/>
          <p:nvPr/>
        </p:nvSpPr>
        <p:spPr>
          <a:xfrm>
            <a:off x="854964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 log₂ n</a:t>
            </a:r>
            <a:endParaRPr lang="en-US" sz="2600" dirty="0"/>
          </a:p>
        </p:txBody>
      </p:sp>
      <p:sp>
        <p:nvSpPr>
          <p:cNvPr id="12" name="Rótulo do número"/>
          <p:cNvSpPr txBox="1"/>
          <p:nvPr/>
        </p:nvSpPr>
        <p:spPr>
          <a:xfrm>
            <a:off x="8549640" y="4517136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A77"/>
                </a:solidFill>
              </a:rPr>
              <a:t>a Rubro-Negra encosta no seu limite teórico com IDs sequenciais (31 de 33,2)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549640" y="5577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A77"/>
                </a:solidFill>
              </a:rPr>
              <a:t>Ordem decrescente: resultados idênticos.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ópico"/>
          <p:cNvSpPr/>
          <p:nvPr/>
        </p:nvSpPr>
        <p:spPr>
          <a:xfrm>
            <a:off x="457200" y="425196"/>
            <a:ext cx="566928" cy="56692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Número do tópico"/>
          <p:cNvSpPr txBox="1"/>
          <p:nvPr/>
        </p:nvSpPr>
        <p:spPr>
          <a:xfrm>
            <a:off x="457200" y="4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8872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Análise: custo do balanceamento</a:t>
            </a:r>
            <a:endParaRPr lang="en-US" sz="3200" dirty="0"/>
          </a:p>
        </p:txBody>
      </p:sp>
      <p:graphicFrame>
        <p:nvGraphicFramePr>
          <p:cNvPr id="5" name="Gráfico de rotações" descr=""/>
          <p:cNvGraphicFramePr/>
          <p:nvPr/>
        </p:nvGraphicFramePr>
        <p:xfrm>
          <a:off x="548640" y="1325880"/>
          <a:ext cx="749808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tão"/>
          <p:cNvSpPr/>
          <p:nvPr/>
        </p:nvSpPr>
        <p:spPr>
          <a:xfrm>
            <a:off x="8321040" y="1325880"/>
            <a:ext cx="3337560" cy="4800600"/>
          </a:xfrm>
          <a:prstGeom prst="roundRect">
            <a:avLst>
              <a:gd name="adj" fmla="val 219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Número em destaque"/>
          <p:cNvSpPr txBox="1"/>
          <p:nvPr/>
        </p:nvSpPr>
        <p:spPr>
          <a:xfrm>
            <a:off x="854964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empate</a:t>
            </a:r>
            <a:endParaRPr lang="en-US" sz="2600" dirty="0"/>
          </a:p>
        </p:txBody>
      </p:sp>
      <p:sp>
        <p:nvSpPr>
          <p:cNvPr id="8" name="Rótulo do número"/>
          <p:cNvSpPr txBox="1"/>
          <p:nvPr/>
        </p:nvSpPr>
        <p:spPr>
          <a:xfrm>
            <a:off x="8549640" y="195681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A77"/>
                </a:solidFill>
              </a:rPr>
              <a:t>com IDs sequenciais: cerca de 1 rotação por inserção nas duas</a:t>
            </a:r>
            <a:endParaRPr lang="en-US" sz="1300" dirty="0"/>
          </a:p>
        </p:txBody>
      </p:sp>
      <p:sp>
        <p:nvSpPr>
          <p:cNvPr id="9" name="Número em destaque"/>
          <p:cNvSpPr txBox="1"/>
          <p:nvPr/>
        </p:nvSpPr>
        <p:spPr>
          <a:xfrm>
            <a:off x="8549640" y="2514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−16%</a:t>
            </a:r>
            <a:endParaRPr lang="en-US" sz="2600" dirty="0"/>
          </a:p>
        </p:txBody>
      </p:sp>
      <p:sp>
        <p:nvSpPr>
          <p:cNvPr id="10" name="Rótulo do número"/>
          <p:cNvSpPr txBox="1"/>
          <p:nvPr/>
        </p:nvSpPr>
        <p:spPr>
          <a:xfrm>
            <a:off x="8549640" y="309981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A77"/>
                </a:solidFill>
              </a:rPr>
              <a:t>rotações da Rubro-Negra com IDs aleatórios</a:t>
            </a:r>
            <a:endParaRPr lang="en-US" sz="1300" dirty="0"/>
          </a:p>
        </p:txBody>
      </p:sp>
      <p:sp>
        <p:nvSpPr>
          <p:cNvPr id="11" name="Número em destaque"/>
          <p:cNvSpPr txBox="1"/>
          <p:nvPr/>
        </p:nvSpPr>
        <p:spPr>
          <a:xfrm>
            <a:off x="854964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5</a:t>
            </a:r>
            <a:endParaRPr lang="en-US" sz="2600" dirty="0"/>
          </a:p>
        </p:txBody>
      </p:sp>
      <p:sp>
        <p:nvSpPr>
          <p:cNvPr id="12" name="Rótulo do número"/>
          <p:cNvSpPr txBox="1"/>
          <p:nvPr/>
        </p:nvSpPr>
        <p:spPr>
          <a:xfrm>
            <a:off x="8549640" y="410565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A77"/>
                </a:solidFill>
              </a:rPr>
              <a:t>recolorações por inserção sequencial na Rubro-Negra (499.846 no total)</a:t>
            </a:r>
            <a:endParaRPr lang="en-US" sz="1300" dirty="0"/>
          </a:p>
        </p:txBody>
      </p:sp>
      <p:sp>
        <p:nvSpPr>
          <p:cNvPr id="13" name="Número em destaque"/>
          <p:cNvSpPr txBox="1"/>
          <p:nvPr/>
        </p:nvSpPr>
        <p:spPr>
          <a:xfrm>
            <a:off x="8549640" y="4663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15–28%</a:t>
            </a:r>
            <a:endParaRPr lang="en-US" sz="2600" dirty="0"/>
          </a:p>
        </p:txBody>
      </p:sp>
      <p:sp>
        <p:nvSpPr>
          <p:cNvPr id="14" name="Rótulo do número"/>
          <p:cNvSpPr txBox="1"/>
          <p:nvPr/>
        </p:nvSpPr>
        <p:spPr>
          <a:xfrm>
            <a:off x="8549640" y="52486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A77"/>
                </a:solidFill>
              </a:rPr>
              <a:t>inserção mais rápida na Rubro-Negra (mediana de 11 execuções)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ópico"/>
          <p:cNvSpPr/>
          <p:nvPr/>
        </p:nvSpPr>
        <p:spPr>
          <a:xfrm>
            <a:off x="457200" y="425196"/>
            <a:ext cx="566928" cy="56692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Número do tópico"/>
          <p:cNvSpPr txBox="1"/>
          <p:nvPr/>
        </p:nvSpPr>
        <p:spPr>
          <a:xfrm>
            <a:off x="457200" y="4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8872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Análise: custo da busca e cargas mistas</a:t>
            </a:r>
            <a:endParaRPr lang="en-US" sz="3200" dirty="0"/>
          </a:p>
        </p:txBody>
      </p:sp>
      <p:graphicFrame>
        <p:nvGraphicFramePr>
          <p:cNvPr id="5" name="Gráfico de comparações" descr=""/>
          <p:cNvGraphicFramePr/>
          <p:nvPr/>
        </p:nvGraphicFramePr>
        <p:xfrm>
          <a:off x="548640" y="1325880"/>
          <a:ext cx="539496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Cargas mist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71600"/>
          <a:ext cx="54406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097280"/>
                <a:gridCol w="1188720"/>
                <a:gridCol w="11887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Carga (1 milhão de operações)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Altura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AVL / RN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Comp./busca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AVL / RN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Tempo (ms)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AVL / RN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</a:rPr>
                        <a:t>Rastreamento 10/85/5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</a:rPr>
                        <a:t>17 / 24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</a:rPr>
                        <a:t>13,9 / 14,1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</a:rPr>
                        <a:t>109 / 138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</a:rPr>
                        <a:t>Equilibrada 40/40/20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</a:rPr>
                        <a:t>19 / 29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</a:rPr>
                        <a:t>15,8 / 16,1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</a:rPr>
                        <a:t>254 / 294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</a:rPr>
                        <a:t>Pico de pedidos 45/10/45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</a:rPr>
                        <a:t>19 / 29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</a:rPr>
                        <a:t>15,6 / 16,0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</a:rPr>
                        <a:t>289 / 256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217920" y="3474720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A77"/>
                </a:solidFill>
              </a:rPr>
              <a:t>Percentuais = inserção / busca / remoção, com IDs sequenciais. Os tempos variaram até 20% entre execuções e chegaram a inverter; altura e comparações são determinísticas.</a:t>
            </a:r>
            <a:endParaRPr lang="en-US" sz="1200" dirty="0"/>
          </a:p>
        </p:txBody>
      </p:sp>
      <p:sp>
        <p:nvSpPr>
          <p:cNvPr id="8" name="Cartão"/>
          <p:cNvSpPr/>
          <p:nvPr/>
        </p:nvSpPr>
        <p:spPr>
          <a:xfrm>
            <a:off x="6217920" y="452628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9" name="Número em destaque"/>
          <p:cNvSpPr txBox="1"/>
          <p:nvPr/>
        </p:nvSpPr>
        <p:spPr>
          <a:xfrm>
            <a:off x="6446520" y="4572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−23%</a:t>
            </a:r>
            <a:endParaRPr lang="en-US" sz="3000" dirty="0"/>
          </a:p>
        </p:txBody>
      </p:sp>
      <p:sp>
        <p:nvSpPr>
          <p:cNvPr id="10" name="Rótulo do número"/>
          <p:cNvSpPr txBox="1"/>
          <p:nvPr/>
        </p:nvSpPr>
        <p:spPr>
          <a:xfrm>
            <a:off x="6446520" y="515721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</a:rPr>
              <a:t>comparações na AVL ao rastrear as encomendas mais recentes (15,3 vs 19,8): as recentes ficam no ramo mais fundo da Rubro-Negra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ópico"/>
          <p:cNvSpPr/>
          <p:nvPr/>
        </p:nvSpPr>
        <p:spPr>
          <a:xfrm>
            <a:off x="457200" y="425196"/>
            <a:ext cx="566928" cy="56692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Número do tópico"/>
          <p:cNvSpPr txBox="1"/>
          <p:nvPr/>
        </p:nvSpPr>
        <p:spPr>
          <a:xfrm>
            <a:off x="457200" y="4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8872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Diferenças, vantagens e limitações</a:t>
            </a:r>
            <a:endParaRPr lang="en-US" sz="3200" dirty="0"/>
          </a:p>
        </p:txBody>
      </p:sp>
      <p:sp>
        <p:nvSpPr>
          <p:cNvPr id="5" name="Árvore AVL"/>
          <p:cNvSpPr/>
          <p:nvPr/>
        </p:nvSpPr>
        <p:spPr>
          <a:xfrm>
            <a:off x="548640" y="1325880"/>
            <a:ext cx="5440680" cy="548640"/>
          </a:xfrm>
          <a:prstGeom prst="roundRect">
            <a:avLst>
              <a:gd name="adj" fmla="val 13333"/>
            </a:avLst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25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Árvore AVL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548640" y="196596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48840"/>
            <a:ext cx="49834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7C7A"/>
                </a:solidFill>
              </a:rPr>
              <a:t>Estratégia</a:t>
            </a:r>
            <a:endParaRPr lang="en-US" sz="15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B1F24"/>
                </a:solidFill>
              </a:rPr>
              <a:t>balanceamento rígido por altura (|FB| ≤ 1)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0F7C7A"/>
                </a:solidFill>
              </a:rPr>
              <a:t>Vantagens</a:t>
            </a:r>
            <a:endParaRPr lang="en-US" sz="15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B1F24"/>
                </a:solidFill>
              </a:rPr>
              <a:t>árvore mais baixa (igual à mínima com IDs sequenciais); buscas mais curtas e previsíveis; nó simples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0F7C7A"/>
                </a:solidFill>
              </a:rPr>
              <a:t>Limitações</a:t>
            </a:r>
            <a:endParaRPr lang="en-US" sz="15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B1F24"/>
                </a:solidFill>
              </a:rPr>
              <a:t>atualiza alturas no caminho todo; remoção pode rotacionar em vários níveis; inserção 15–28% mais lenta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0F7C7A"/>
                </a:solidFill>
              </a:rPr>
              <a:t>Aplicações</a:t>
            </a:r>
            <a:endParaRPr lang="en-US" sz="15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B1F24"/>
                </a:solidFill>
              </a:rPr>
              <a:t>índices em memória com leitura predominante: consulta, rastreamento, dicionários</a:t>
            </a:r>
            <a:endParaRPr lang="en-US" sz="1550" dirty="0"/>
          </a:p>
        </p:txBody>
      </p:sp>
      <p:sp>
        <p:nvSpPr>
          <p:cNvPr id="9" name="Árvore Rubro-Negra"/>
          <p:cNvSpPr/>
          <p:nvPr/>
        </p:nvSpPr>
        <p:spPr>
          <a:xfrm>
            <a:off x="6217920" y="1325880"/>
            <a:ext cx="5440680" cy="54864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325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Árvore Rubro-Negra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6217920" y="196596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148840"/>
            <a:ext cx="49834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C62828"/>
                </a:solidFill>
              </a:rPr>
              <a:t>Estratégia</a:t>
            </a:r>
            <a:endParaRPr lang="en-US" sz="15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B1F24"/>
                </a:solidFill>
              </a:rPr>
              <a:t>balanceamento frouxo por cores (h ≤ 2 log₂ n)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C62828"/>
                </a:solidFill>
              </a:rPr>
              <a:t>Vantagens</a:t>
            </a:r>
            <a:endParaRPr lang="en-US" sz="15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B1F24"/>
                </a:solidFill>
              </a:rPr>
              <a:t>≤ 2 rotações por inserção e ≤ 3 por remoção; 16% menos rotações com chaves aleatórias; inserção mais rápida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C62828"/>
                </a:solidFill>
              </a:rPr>
              <a:t>Limitações</a:t>
            </a:r>
            <a:endParaRPr lang="en-US" sz="15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B1F24"/>
                </a:solidFill>
              </a:rPr>
              <a:t>até 82% mais alta com chaves sequenciais; mais casos no código; ~5 recolorações por inserção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C62828"/>
                </a:solidFill>
              </a:rPr>
              <a:t>Aplicações</a:t>
            </a:r>
            <a:endParaRPr lang="en-US" sz="15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B1F24"/>
                </a:solidFill>
              </a:rPr>
              <a:t>bibliotecas de uso geral (java.util.TreeMap, std::map), escalonador CFS do Linux, cargas de escrita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ópico"/>
          <p:cNvSpPr/>
          <p:nvPr/>
        </p:nvSpPr>
        <p:spPr>
          <a:xfrm>
            <a:off x="457200" y="425196"/>
            <a:ext cx="566928" cy="56692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Número do tópico"/>
          <p:cNvSpPr txBox="1"/>
          <p:nvPr/>
        </p:nvSpPr>
        <p:spPr>
          <a:xfrm>
            <a:off x="457200" y="4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A"/>
                </a:solidFill>
              </a:rPr>
              <a:t>09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8872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Recomendação: Árvore AVL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0EA"/>
                </a:solidFill>
              </a:rPr>
              <a:t>Para o índice de encomendas da Black Friday: IDs chegam em sequência e o rastreamento é a operação dominante.</a:t>
            </a:r>
            <a:endParaRPr lang="en-US" sz="1800" dirty="0"/>
          </a:p>
        </p:txBody>
      </p:sp>
      <p:sp>
        <p:nvSpPr>
          <p:cNvPr id="6" name="Evidência"/>
          <p:cNvSpPr/>
          <p:nvPr/>
        </p:nvSpPr>
        <p:spPr>
          <a:xfrm>
            <a:off x="548640" y="20574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1A3B50"/>
          </a:solidFill>
          <a:ln w="12700">
            <a:solidFill>
              <a:srgbClr val="1A3B50"/>
            </a:solidFill>
            <a:prstDash val="solid"/>
          </a:ln>
        </p:spPr>
      </p:sp>
      <p:sp>
        <p:nvSpPr>
          <p:cNvPr id="7" name="Número em destaque"/>
          <p:cNvSpPr txBox="1"/>
          <p:nvPr/>
        </p:nvSpPr>
        <p:spPr>
          <a:xfrm>
            <a:off x="822960" y="2194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5000" dirty="0"/>
          </a:p>
        </p:txBody>
      </p:sp>
      <p:sp>
        <p:nvSpPr>
          <p:cNvPr id="8" name="Rótulo do número"/>
          <p:cNvSpPr txBox="1"/>
          <p:nvPr/>
        </p:nvSpPr>
        <p:spPr>
          <a:xfrm>
            <a:off x="822960" y="314553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menor altura com IDs sequenciais (17 vs 31 com 100 mil IDs)</a:t>
            </a:r>
            <a:endParaRPr lang="en-US" sz="1500" dirty="0"/>
          </a:p>
        </p:txBody>
      </p:sp>
      <p:sp>
        <p:nvSpPr>
          <p:cNvPr id="9" name="Evidência"/>
          <p:cNvSpPr/>
          <p:nvPr/>
        </p:nvSpPr>
        <p:spPr>
          <a:xfrm>
            <a:off x="4343400" y="20574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1A3B50"/>
          </a:solidFill>
          <a:ln w="12700">
            <a:solidFill>
              <a:srgbClr val="1A3B50"/>
            </a:solidFill>
            <a:prstDash val="solid"/>
          </a:ln>
        </p:spPr>
      </p:sp>
      <p:sp>
        <p:nvSpPr>
          <p:cNvPr id="10" name="Número em destaque"/>
          <p:cNvSpPr txBox="1"/>
          <p:nvPr/>
        </p:nvSpPr>
        <p:spPr>
          <a:xfrm>
            <a:off x="4617720" y="2194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5000" dirty="0"/>
          </a:p>
        </p:txBody>
      </p:sp>
      <p:sp>
        <p:nvSpPr>
          <p:cNvPr id="11" name="Rótulo do número"/>
          <p:cNvSpPr txBox="1"/>
          <p:nvPr/>
        </p:nvSpPr>
        <p:spPr>
          <a:xfrm>
            <a:off x="4617720" y="314553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menos comparações ao rastrear as encomendas recentes (15,3 vs 19,8)</a:t>
            </a:r>
            <a:endParaRPr lang="en-US" sz="1500" dirty="0"/>
          </a:p>
        </p:txBody>
      </p:sp>
      <p:sp>
        <p:nvSpPr>
          <p:cNvPr id="12" name="Evidência"/>
          <p:cNvSpPr/>
          <p:nvPr/>
        </p:nvSpPr>
        <p:spPr>
          <a:xfrm>
            <a:off x="8138160" y="20574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1A3B50"/>
          </a:solidFill>
          <a:ln w="12700">
            <a:solidFill>
              <a:srgbClr val="1A3B50"/>
            </a:solidFill>
            <a:prstDash val="solid"/>
          </a:ln>
        </p:spPr>
      </p:sp>
      <p:sp>
        <p:nvSpPr>
          <p:cNvPr id="13" name="Número em destaque"/>
          <p:cNvSpPr txBox="1"/>
          <p:nvPr/>
        </p:nvSpPr>
        <p:spPr>
          <a:xfrm>
            <a:off x="8412480" y="2194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</a:t>
            </a:r>
            <a:endParaRPr lang="en-US" sz="5000" dirty="0"/>
          </a:p>
        </p:txBody>
      </p:sp>
      <p:sp>
        <p:nvSpPr>
          <p:cNvPr id="14" name="Rótulo do número"/>
          <p:cNvSpPr txBox="1"/>
          <p:nvPr/>
        </p:nvSpPr>
        <p:spPr>
          <a:xfrm>
            <a:off x="8412480" y="314553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diferença em rotações nesse cenário (99.983 vs 99.969)</a:t>
            </a:r>
            <a:endParaRPr lang="en-US" sz="1500" dirty="0"/>
          </a:p>
        </p:txBody>
      </p:sp>
      <p:sp>
        <p:nvSpPr>
          <p:cNvPr id="15" name="Quando usar Rubro-Negra"/>
          <p:cNvSpPr/>
          <p:nvPr/>
        </p:nvSpPr>
        <p:spPr>
          <a:xfrm>
            <a:off x="548640" y="4480560"/>
            <a:ext cx="11109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617720"/>
            <a:ext cx="10561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Quando a Rubro-Negra seria a escolha: </a:t>
            </a:r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</a:rPr>
              <a:t>chaves em ordem aleatória com escrita predominante, ou quando é preciso limitar a reestruturação por operação (estruturas concorrentes ou persistentes). Nesses casos ela fez 16% menos rotações e inseriu de 15% a 28% mais rápido nos testes.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F9A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ópico"/>
          <p:cNvSpPr/>
          <p:nvPr/>
        </p:nvSpPr>
        <p:spPr>
          <a:xfrm>
            <a:off x="457200" y="425196"/>
            <a:ext cx="566928" cy="56692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Número do tópico"/>
          <p:cNvSpPr txBox="1"/>
          <p:nvPr/>
        </p:nvSpPr>
        <p:spPr>
          <a:xfrm>
            <a:off x="457200" y="4251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8872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 e repositório</a:t>
            </a:r>
            <a:endParaRPr lang="en-US" sz="3200" dirty="0"/>
          </a:p>
        </p:txBody>
      </p:sp>
      <p:sp>
        <p:nvSpPr>
          <p:cNvPr id="5" name="Repositório"/>
          <p:cNvSpPr/>
          <p:nvPr/>
        </p:nvSpPr>
        <p:spPr>
          <a:xfrm>
            <a:off x="548640" y="1371600"/>
            <a:ext cx="4937760" cy="4709160"/>
          </a:xfrm>
          <a:prstGeom prst="roundRect">
            <a:avLst>
              <a:gd name="adj" fmla="val 1553"/>
            </a:avLst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Repositório público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28C28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github.com/SEU-USUARIO/arvores-balanceadas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Código-fonte das duas árvores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Versão compilada: dist/arvores-balanceadas.jar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README com execução, dependências e exemplos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Registros de execução e resultados do benchmark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349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EA"/>
                </a:solidFill>
              </a:rPr>
              <a:t>Requisito: Java 17 ou superior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37160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A3A"/>
                </a:solidFill>
              </a:rPr>
              <a:t>Referências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828800"/>
            <a:ext cx="58064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1F24"/>
                </a:solidFill>
              </a:rPr>
              <a:t>CORMEN, T. H. et al. Algoritmos: Teoria e Prática. 3. ed. Elsevier, 2012. Cap. 12 e 13.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1F24"/>
                </a:solidFill>
              </a:rPr>
              <a:t>ADELSON-VELSKY, G. M.; LANDIS, E. M. An algorithm for the organization of information. Soviet Mathematics Doklady, v. 3, 1962.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1F24"/>
                </a:solidFill>
              </a:rPr>
              <a:t>GUIBAS, L. J.; SEDGEWICK, R. A dichromatic framework for balanced trees. 19th FOCS, IEEE, 1978.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1F24"/>
                </a:solidFill>
              </a:rPr>
              <a:t>KNUTH, D. E. The Art of Computer Programming, v. 3: Sorting and Searching. 2. ed. Addison-Wesley, 1998.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1F24"/>
                </a:solidFill>
              </a:rPr>
              <a:t>SEDGEWICK, R.; WAYNE, K. Algorithms. 4. ed. Addison-Wesley, 2011. Seção 3.3.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1F24"/>
                </a:solidFill>
              </a:rPr>
              <a:t>SZWARCFITER, J. L.; MARKENZON, L. Estruturas de Dados e seus Algoritmos. 3. ed. LTC, 2010.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vores Balanceadas">
  <a:themeElements>
    <a:clrScheme name="Arvores Balanceadas">
      <a:dk1>
        <a:srgbClr val="1B1F24"/>
      </a:dk1>
      <a:lt1>
        <a:srgbClr val="FFFFFF"/>
      </a:lt1>
      <a:dk2>
        <a:srgbClr val="0F2A3A"/>
      </a:dk2>
      <a:lt2>
        <a:srgbClr val="F2F4F6"/>
      </a:lt2>
      <a:accent1>
        <a:srgbClr val="F28C28"/>
      </a:accent1>
      <a:accent2>
        <a:srgbClr val="0F7C7A"/>
      </a:accent2>
      <a:accent3>
        <a:srgbClr val="C62828"/>
      </a:accent3>
      <a:accent4>
        <a:srgbClr val="2B2F36"/>
      </a:accent4>
      <a:accent5>
        <a:srgbClr val="8A96A3"/>
      </a:accent5>
      <a:accent6>
        <a:srgbClr val="3A7CA5"/>
      </a:accent6>
      <a:hlink>
        <a:srgbClr val="3A7CA5"/>
      </a:hlink>
      <a:folHlink>
        <a:srgbClr val="5E6A77"/>
      </a:folHlink>
    </a:clrScheme>
    <a:fontScheme name="Arvores Balanceada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AVL x Rubro-Negra: Amazon Engineering Challenge</dc:title>
  <dc:subject>IMD0039 - Estruturas de Dados Básicas II - Trabalho da Unidade II</dc:subject>
  <dc:creator>Leonardo Rosendo Faustino</dc:creator>
  <cp:lastModifiedBy>Leonardo Rosendo Faustino</cp:lastModifiedBy>
  <cp:revision>1</cp:revision>
  <dcterms:created xsi:type="dcterms:W3CDTF">2026-10-19T15:33:56Z</dcterms:created>
  <dcterms:modified xsi:type="dcterms:W3CDTF">2026-10-19T15:33:56Z</dcterms:modified>
</cp:coreProperties>
</file>